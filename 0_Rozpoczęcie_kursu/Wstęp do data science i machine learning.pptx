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0"/>
  </p:notesMasterIdLst>
  <p:sldIdLst>
    <p:sldId id="256" r:id="rId2"/>
    <p:sldId id="258" r:id="rId3"/>
    <p:sldId id="290" r:id="rId4"/>
    <p:sldId id="265" r:id="rId5"/>
    <p:sldId id="266" r:id="rId6"/>
    <p:sldId id="267" r:id="rId7"/>
    <p:sldId id="271" r:id="rId8"/>
    <p:sldId id="272" r:id="rId9"/>
    <p:sldId id="277" r:id="rId10"/>
    <p:sldId id="287" r:id="rId11"/>
    <p:sldId id="288" r:id="rId12"/>
    <p:sldId id="291" r:id="rId13"/>
    <p:sldId id="293" r:id="rId14"/>
    <p:sldId id="289" r:id="rId15"/>
    <p:sldId id="294" r:id="rId16"/>
    <p:sldId id="268" r:id="rId17"/>
    <p:sldId id="270" r:id="rId18"/>
    <p:sldId id="286" r:id="rId19"/>
  </p:sldIdLst>
  <p:sldSz cx="9144000" cy="5143500" type="screen16x9"/>
  <p:notesSz cx="9144000" cy="51435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Lucida Sans" panose="020B0602030504020204" pitchFamily="34" charset="0"/>
      <p:regular r:id="rId25"/>
      <p:bold r:id="rId26"/>
      <p:italic r:id="rId27"/>
      <p:boldItalic r:id="rId28"/>
    </p:embeddedFont>
    <p:embeddedFont>
      <p:font typeface="Montserrat" panose="00000500000000000000" pitchFamily="2" charset="-18"/>
      <p:regular r:id="rId29"/>
      <p:bold r:id="rId30"/>
      <p:italic r:id="rId31"/>
      <p:boldItalic r:id="rId32"/>
    </p:embeddedFont>
    <p:embeddedFont>
      <p:font typeface="Poppins" panose="00000500000000000000" pitchFamily="2" charset="-18"/>
      <p:regular r:id="rId33"/>
      <p:bold r:id="rId34"/>
      <p:italic r:id="rId35"/>
      <p:boldItalic r:id="rId36"/>
    </p:embeddedFont>
    <p:embeddedFont>
      <p:font typeface="Poppins Black" panose="00000A00000000000000" pitchFamily="2" charset="-18"/>
      <p:bold r:id="rId37"/>
      <p:boldItalic r:id="rId38"/>
    </p:embeddedFont>
    <p:embeddedFont>
      <p:font typeface="Poppins Light" panose="00000400000000000000" pitchFamily="2" charset="-18"/>
      <p:regular r:id="rId39"/>
      <p:bold r:id="rId40"/>
      <p:italic r:id="rId41"/>
      <p:boldItalic r:id="rId42"/>
    </p:embeddedFont>
    <p:embeddedFont>
      <p:font typeface="Poppins Medium" panose="00000600000000000000" pitchFamily="2" charset="-18"/>
      <p:regular r:id="rId43"/>
      <p:bold r:id="rId44"/>
      <p:italic r:id="rId45"/>
      <p:boldItalic r:id="rId46"/>
    </p:embeddedFont>
    <p:embeddedFont>
      <p:font typeface="Tahoma" panose="020B0604030504040204" pitchFamily="3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9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font" Target="fonts/font2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798718da6f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798718da6f_0_260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d7c2fb4e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4d7c2fb4e6_1_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798718da6f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798718da6f_0_260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285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5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754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5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8513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798718da6f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798718da6f_0_260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242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6313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6445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1884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7728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d7c2fb4e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4d7c2fb4e6_1_2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670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0" y="2675531"/>
            <a:ext cx="9144000" cy="339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0" y="2125463"/>
            <a:ext cx="91440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libri"/>
              <a:buNone/>
              <a:defRPr sz="3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4768" y="0"/>
            <a:ext cx="1494465" cy="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0" y="4697234"/>
            <a:ext cx="91440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1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3163163" y="5030906"/>
            <a:ext cx="2817600" cy="11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-50 site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l="60330"/>
          <a:stretch/>
        </p:blipFill>
        <p:spPr>
          <a:xfrm>
            <a:off x="4570199" y="0"/>
            <a:ext cx="45738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534" y="4333500"/>
            <a:ext cx="1494465" cy="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89406" y="240356"/>
            <a:ext cx="4200300" cy="452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000000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89406" y="978788"/>
            <a:ext cx="3747600" cy="297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289406" y="1276013"/>
            <a:ext cx="3678900" cy="2098500"/>
          </a:xfrm>
          <a:prstGeom prst="rect">
            <a:avLst/>
          </a:prstGeom>
        </p:spPr>
        <p:txBody>
          <a:bodyPr spcFirstLastPara="1" wrap="square" lIns="68575" tIns="0" rIns="68575" bIns="68575" anchor="t" anchorCtr="0">
            <a:normAutofit/>
          </a:bodyPr>
          <a:lstStyle>
            <a:lvl1pPr marL="457200" lvl="0" indent="-317500">
              <a:spcBef>
                <a:spcPts val="800"/>
              </a:spcBef>
              <a:spcAft>
                <a:spcPts val="0"/>
              </a:spcAft>
              <a:buSzPts val="1400"/>
              <a:buFont typeface="Poppins Light"/>
              <a:buChar char="•"/>
              <a:defRPr sz="1400"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98450">
              <a:spcBef>
                <a:spcPts val="400"/>
              </a:spcBef>
              <a:spcAft>
                <a:spcPts val="0"/>
              </a:spcAft>
              <a:buSzPts val="1100"/>
              <a:buFont typeface="Poppins Light"/>
              <a:buChar char="•"/>
              <a:defRPr sz="1100"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>
              <a:spcBef>
                <a:spcPts val="4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66700">
              <a:spcBef>
                <a:spcPts val="400"/>
              </a:spcBef>
              <a:spcAft>
                <a:spcPts val="0"/>
              </a:spcAft>
              <a:buSzPts val="600"/>
              <a:buFont typeface="Poppins Light"/>
              <a:buChar char="•"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66700">
              <a:spcBef>
                <a:spcPts val="400"/>
              </a:spcBef>
              <a:spcAft>
                <a:spcPts val="0"/>
              </a:spcAft>
              <a:buSzPts val="600"/>
              <a:buFont typeface="Poppins Light"/>
              <a:buChar char="•"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66700">
              <a:spcBef>
                <a:spcPts val="400"/>
              </a:spcBef>
              <a:spcAft>
                <a:spcPts val="0"/>
              </a:spcAft>
              <a:buSzPts val="600"/>
              <a:buFont typeface="Poppins Light"/>
              <a:buChar char="•"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66700">
              <a:spcBef>
                <a:spcPts val="400"/>
              </a:spcBef>
              <a:spcAft>
                <a:spcPts val="0"/>
              </a:spcAft>
              <a:buSzPts val="600"/>
              <a:buFont typeface="Poppins Light"/>
              <a:buChar char="•"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66700">
              <a:spcBef>
                <a:spcPts val="400"/>
              </a:spcBef>
              <a:spcAft>
                <a:spcPts val="0"/>
              </a:spcAft>
              <a:buSzPts val="600"/>
              <a:buFont typeface="Poppins Light"/>
              <a:buChar char="•"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66700">
              <a:spcBef>
                <a:spcPts val="400"/>
              </a:spcBef>
              <a:spcAft>
                <a:spcPts val="0"/>
              </a:spcAft>
              <a:buSzPts val="600"/>
              <a:buFont typeface="Poppins Light"/>
              <a:buChar char="•"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3"/>
          </p:nvPr>
        </p:nvSpPr>
        <p:spPr>
          <a:xfrm>
            <a:off x="4935994" y="978788"/>
            <a:ext cx="3747600" cy="297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4"/>
          </p:nvPr>
        </p:nvSpPr>
        <p:spPr>
          <a:xfrm>
            <a:off x="4935994" y="1276013"/>
            <a:ext cx="3704400" cy="2098500"/>
          </a:xfrm>
          <a:prstGeom prst="rect">
            <a:avLst/>
          </a:prstGeom>
        </p:spPr>
        <p:txBody>
          <a:bodyPr spcFirstLastPara="1" wrap="square" lIns="68575" tIns="0" rIns="68575" bIns="68575" anchor="t" anchorCtr="0">
            <a:normAutofit/>
          </a:bodyPr>
          <a:lstStyle>
            <a:lvl1pPr marL="457200" lvl="0" indent="-3175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•"/>
              <a:def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9845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oppins Light"/>
              <a:buChar char="•"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•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667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Char char="•"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667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Char char="•"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667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Char char="•"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667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Char char="•"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667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Char char="•"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667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Char char="•"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headline">
  <p:cSld name="CUSTOM_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5"/>
          <p:cNvGrpSpPr/>
          <p:nvPr/>
        </p:nvGrpSpPr>
        <p:grpSpPr>
          <a:xfrm>
            <a:off x="415547" y="1961530"/>
            <a:ext cx="596263" cy="504281"/>
            <a:chOff x="554063" y="2615373"/>
            <a:chExt cx="795017" cy="672375"/>
          </a:xfrm>
        </p:grpSpPr>
        <p:sp>
          <p:nvSpPr>
            <p:cNvPr id="38" name="Google Shape;38;p5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5"/>
          <p:cNvSpPr txBox="1"/>
          <p:nvPr/>
        </p:nvSpPr>
        <p:spPr>
          <a:xfrm>
            <a:off x="1" y="4809728"/>
            <a:ext cx="55167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100" b="0" i="0" u="none" strike="noStrike" cap="non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 l="60330"/>
          <a:stretch/>
        </p:blipFill>
        <p:spPr>
          <a:xfrm>
            <a:off x="5516544" y="0"/>
            <a:ext cx="362745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83" y="1896750"/>
            <a:ext cx="2490775" cy="13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1103813" y="2047088"/>
            <a:ext cx="3563400" cy="41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542363" y="2564513"/>
            <a:ext cx="3749100" cy="333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29845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marL="1371600" lvl="2" indent="-279400"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marL="1828800" lvl="3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4pPr>
            <a:lvl5pPr marL="2286000" lvl="4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5pPr>
            <a:lvl6pPr marL="2743200" lvl="5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6pPr>
            <a:lvl7pPr marL="3200400" lvl="6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7pPr>
            <a:lvl8pPr marL="3657600" lvl="7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- title only">
  <p:cSld name="CUSTOM_3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832631" y="349988"/>
            <a:ext cx="7682700" cy="382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grpSp>
        <p:nvGrpSpPr>
          <p:cNvPr id="65" name="Google Shape;65;p8"/>
          <p:cNvGrpSpPr/>
          <p:nvPr/>
        </p:nvGrpSpPr>
        <p:grpSpPr>
          <a:xfrm>
            <a:off x="180597" y="151780"/>
            <a:ext cx="596263" cy="504281"/>
            <a:chOff x="554063" y="2615373"/>
            <a:chExt cx="795017" cy="672375"/>
          </a:xfrm>
        </p:grpSpPr>
        <p:sp>
          <p:nvSpPr>
            <p:cNvPr id="66" name="Google Shape;66;p8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49535" y="4333500"/>
            <a:ext cx="1494465" cy="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ation">
  <p:cSld name="CUSTOM_4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1870093" y="923425"/>
            <a:ext cx="5403900" cy="3251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6293957" y="3192427"/>
            <a:ext cx="1431000" cy="1431000"/>
          </a:xfrm>
          <a:prstGeom prst="ellipse">
            <a:avLst/>
          </a:prstGeom>
          <a:solidFill>
            <a:srgbClr val="F20B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4768" y="0"/>
            <a:ext cx="1494465" cy="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/>
        </p:nvSpPr>
        <p:spPr>
          <a:xfrm>
            <a:off x="0" y="4697234"/>
            <a:ext cx="91440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1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0150" y="1460006"/>
            <a:ext cx="308925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2759081" y="1460006"/>
            <a:ext cx="4174200" cy="1924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74650" rtl="0">
              <a:spcBef>
                <a:spcPts val="800"/>
              </a:spcBef>
              <a:spcAft>
                <a:spcPts val="0"/>
              </a:spcAft>
              <a:buSzPts val="2300"/>
              <a:buChar char="•"/>
              <a:defRPr sz="2300"/>
            </a:lvl1pPr>
            <a:lvl2pPr marL="914400" lvl="1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3655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1700"/>
            </a:lvl3pPr>
            <a:lvl4pPr marL="1828800" lvl="3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2837377" y="3443697"/>
            <a:ext cx="489784" cy="135000"/>
            <a:chOff x="3791636" y="4769396"/>
            <a:chExt cx="653045" cy="180000"/>
          </a:xfrm>
        </p:grpSpPr>
        <p:sp>
          <p:nvSpPr>
            <p:cNvPr id="79" name="Google Shape;79;p9"/>
            <p:cNvSpPr/>
            <p:nvPr/>
          </p:nvSpPr>
          <p:spPr>
            <a:xfrm>
              <a:off x="3791636" y="4769396"/>
              <a:ext cx="180000" cy="1800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4030905" y="4769396"/>
              <a:ext cx="180000" cy="180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4264681" y="4769396"/>
              <a:ext cx="180000" cy="180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9"/>
          <p:cNvSpPr/>
          <p:nvPr/>
        </p:nvSpPr>
        <p:spPr>
          <a:xfrm>
            <a:off x="3163163" y="5030906"/>
            <a:ext cx="2817600" cy="11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 txBox="1"/>
          <p:nvPr/>
        </p:nvSpPr>
        <p:spPr>
          <a:xfrm>
            <a:off x="3398850" y="3338063"/>
            <a:ext cx="3090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The author of the quote</a:t>
            </a:r>
            <a:endParaRPr sz="1400" b="1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4" name="Google Shape;84;p9"/>
          <p:cNvSpPr txBox="1"/>
          <p:nvPr/>
        </p:nvSpPr>
        <p:spPr>
          <a:xfrm>
            <a:off x="3163160" y="2753607"/>
            <a:ext cx="30924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The author of the quote</a:t>
            </a:r>
            <a:endParaRPr sz="1400" b="1" i="0" u="none" strike="noStrike" cap="none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icture on the right">
  <p:cSld name="CUSTOM_5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0"/>
          <p:cNvGrpSpPr/>
          <p:nvPr/>
        </p:nvGrpSpPr>
        <p:grpSpPr>
          <a:xfrm>
            <a:off x="230574" y="190507"/>
            <a:ext cx="596263" cy="504281"/>
            <a:chOff x="554063" y="2615373"/>
            <a:chExt cx="795017" cy="672375"/>
          </a:xfrm>
        </p:grpSpPr>
        <p:sp>
          <p:nvSpPr>
            <p:cNvPr id="87" name="Google Shape;87;p10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0"/>
          <p:cNvSpPr txBox="1"/>
          <p:nvPr/>
        </p:nvSpPr>
        <p:spPr>
          <a:xfrm>
            <a:off x="1" y="4809728"/>
            <a:ext cx="55167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100" b="0" i="0" u="none" strike="noStrike" cap="non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 l="60330" r="38192"/>
          <a:stretch/>
        </p:blipFill>
        <p:spPr>
          <a:xfrm>
            <a:off x="5578330" y="0"/>
            <a:ext cx="13495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535" y="0"/>
            <a:ext cx="1494465" cy="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>
            <a:spLocks noGrp="1"/>
          </p:cNvSpPr>
          <p:nvPr>
            <p:ph type="subTitle" idx="1"/>
          </p:nvPr>
        </p:nvSpPr>
        <p:spPr>
          <a:xfrm>
            <a:off x="907294" y="1341431"/>
            <a:ext cx="3725400" cy="735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SzPts val="2400"/>
              <a:buFont typeface="Poppins Black"/>
              <a:buNone/>
              <a:defRPr sz="2400"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907294" y="2184375"/>
            <a:ext cx="3453900" cy="1346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29845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marL="1371600" lvl="2" indent="-279400"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marL="1828800" lvl="3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4pPr>
            <a:lvl5pPr marL="2286000" lvl="4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5pPr>
            <a:lvl6pPr marL="2743200" lvl="5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6pPr>
            <a:lvl7pPr marL="3200400" lvl="6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7pPr>
            <a:lvl8pPr marL="3657600" lvl="7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66700">
              <a:spcBef>
                <a:spcPts val="400"/>
              </a:spcBef>
              <a:spcAft>
                <a:spcPts val="0"/>
              </a:spcAft>
              <a:buSzPts val="600"/>
              <a:buChar char="•"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icture">
  <p:cSld name="CUSTOM_6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7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/>
          <p:nvPr/>
        </p:nvSpPr>
        <p:spPr>
          <a:xfrm>
            <a:off x="809625" y="1354416"/>
            <a:ext cx="7524600" cy="2678100"/>
          </a:xfrm>
          <a:prstGeom prst="roundRect">
            <a:avLst>
              <a:gd name="adj" fmla="val 445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3761999" y="922985"/>
            <a:ext cx="1620000" cy="810000"/>
          </a:xfrm>
          <a:prstGeom prst="roundRect">
            <a:avLst>
              <a:gd name="adj" fmla="val 4458"/>
            </a:avLst>
          </a:prstGeom>
          <a:solidFill>
            <a:srgbClr val="5500F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9306" y="990485"/>
            <a:ext cx="1245388" cy="6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3163163" y="5030906"/>
            <a:ext cx="2817600" cy="11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title"/>
          </p:nvPr>
        </p:nvSpPr>
        <p:spPr>
          <a:xfrm>
            <a:off x="2432475" y="2165588"/>
            <a:ext cx="4279200" cy="962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Poppin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1"/>
          </p:nvPr>
        </p:nvSpPr>
        <p:spPr>
          <a:xfrm>
            <a:off x="809663" y="3595913"/>
            <a:ext cx="7524600" cy="33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98450" algn="ctr"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1pPr>
            <a:lvl2pPr marL="914400" lvl="1" indent="-279400" algn="ctr"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2pPr>
            <a:lvl3pPr marL="1371600" lvl="2" indent="-260350" algn="ctr">
              <a:spcBef>
                <a:spcPts val="400"/>
              </a:spcBef>
              <a:spcAft>
                <a:spcPts val="0"/>
              </a:spcAft>
              <a:buSzPts val="500"/>
              <a:buChar char="•"/>
              <a:defRPr sz="500"/>
            </a:lvl3pPr>
            <a:lvl4pPr marL="1828800" lvl="3" indent="-247650" algn="ctr">
              <a:spcBef>
                <a:spcPts val="400"/>
              </a:spcBef>
              <a:spcAft>
                <a:spcPts val="0"/>
              </a:spcAft>
              <a:buSzPts val="300"/>
              <a:buChar char="•"/>
              <a:defRPr sz="300"/>
            </a:lvl4pPr>
            <a:lvl5pPr marL="2286000" lvl="4" indent="-247650" algn="ctr">
              <a:spcBef>
                <a:spcPts val="400"/>
              </a:spcBef>
              <a:spcAft>
                <a:spcPts val="0"/>
              </a:spcAft>
              <a:buSzPts val="300"/>
              <a:buChar char="•"/>
              <a:defRPr sz="300"/>
            </a:lvl5pPr>
            <a:lvl6pPr marL="2743200" lvl="5" indent="-247650" algn="ctr">
              <a:spcBef>
                <a:spcPts val="400"/>
              </a:spcBef>
              <a:spcAft>
                <a:spcPts val="0"/>
              </a:spcAft>
              <a:buSzPts val="300"/>
              <a:buChar char="•"/>
              <a:defRPr sz="300"/>
            </a:lvl6pPr>
            <a:lvl7pPr marL="3200400" lvl="6" indent="-247650" algn="ctr">
              <a:spcBef>
                <a:spcPts val="400"/>
              </a:spcBef>
              <a:spcAft>
                <a:spcPts val="0"/>
              </a:spcAft>
              <a:buSzPts val="300"/>
              <a:buChar char="•"/>
              <a:defRPr sz="300"/>
            </a:lvl7pPr>
            <a:lvl8pPr marL="3657600" lvl="7" indent="-247650" algn="ctr">
              <a:spcBef>
                <a:spcPts val="400"/>
              </a:spcBef>
              <a:spcAft>
                <a:spcPts val="0"/>
              </a:spcAft>
              <a:buSzPts val="300"/>
              <a:buChar char="•"/>
              <a:defRPr sz="300"/>
            </a:lvl8pPr>
            <a:lvl9pPr marL="4114800" lvl="8" indent="-247650" algn="ctr">
              <a:spcBef>
                <a:spcPts val="400"/>
              </a:spcBef>
              <a:spcAft>
                <a:spcPts val="0"/>
              </a:spcAft>
              <a:buSzPts val="300"/>
              <a:buChar char="•"/>
              <a:defRPr sz="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">
  <p:cSld name="CUSTOM_8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3"/>
          <p:cNvGrpSpPr/>
          <p:nvPr/>
        </p:nvGrpSpPr>
        <p:grpSpPr>
          <a:xfrm>
            <a:off x="180597" y="151780"/>
            <a:ext cx="596263" cy="504281"/>
            <a:chOff x="554063" y="2615373"/>
            <a:chExt cx="795017" cy="672375"/>
          </a:xfrm>
        </p:grpSpPr>
        <p:sp>
          <p:nvSpPr>
            <p:cNvPr id="106" name="Google Shape;106;p13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33500"/>
            <a:ext cx="1494465" cy="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 rotWithShape="1">
          <a:blip r:embed="rId3">
            <a:alphaModFix/>
          </a:blip>
          <a:srcRect l="25071"/>
          <a:stretch/>
        </p:blipFill>
        <p:spPr>
          <a:xfrm>
            <a:off x="2289421" y="0"/>
            <a:ext cx="6851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1421417" y="1011645"/>
            <a:ext cx="3498000" cy="3110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152400" dist="114300" dir="2700000" algn="tl" rotWithShape="0">
              <a:srgbClr val="000000">
                <a:alpha val="74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1425028" y="1011645"/>
            <a:ext cx="69600" cy="3110100"/>
          </a:xfrm>
          <a:prstGeom prst="roundRect">
            <a:avLst>
              <a:gd name="adj" fmla="val 0"/>
            </a:avLst>
          </a:prstGeom>
          <a:solidFill>
            <a:srgbClr val="5500F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2019319" y="1855350"/>
            <a:ext cx="2347800" cy="1351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ppins Black"/>
              <a:buNone/>
              <a:defRPr sz="24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>
            <a:spLocks noGrp="1"/>
          </p:cNvSpPr>
          <p:nvPr>
            <p:ph type="title"/>
          </p:nvPr>
        </p:nvSpPr>
        <p:spPr>
          <a:xfrm>
            <a:off x="800225" y="439725"/>
            <a:ext cx="89763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oppins"/>
              <a:buNone/>
              <a:defRPr sz="32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body" idx="1"/>
          </p:nvPr>
        </p:nvSpPr>
        <p:spPr>
          <a:xfrm>
            <a:off x="1085000" y="1084112"/>
            <a:ext cx="6491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spcBef>
                <a:spcPts val="800"/>
              </a:spcBef>
              <a:spcAft>
                <a:spcPts val="0"/>
              </a:spcAft>
              <a:buSzPts val="1900"/>
              <a:buNone/>
              <a:defRPr sz="1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 rtl="0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399534" y="278736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872" y="15178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9535" y="4333500"/>
            <a:ext cx="1494465" cy="8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453510" y="1643720"/>
            <a:ext cx="18033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 sz="4500" b="1" i="0">
                <a:solidFill>
                  <a:srgbClr val="F10B3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slide - title only">
  <p:cSld name="White slide - 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-1" y="1"/>
            <a:ext cx="9144000" cy="51435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832631" y="349988"/>
            <a:ext cx="7682700" cy="382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grpSp>
        <p:nvGrpSpPr>
          <p:cNvPr id="58" name="Google Shape;58;p7"/>
          <p:cNvGrpSpPr/>
          <p:nvPr/>
        </p:nvGrpSpPr>
        <p:grpSpPr>
          <a:xfrm>
            <a:off x="180597" y="151780"/>
            <a:ext cx="596263" cy="504281"/>
            <a:chOff x="554063" y="2615373"/>
            <a:chExt cx="795017" cy="672375"/>
          </a:xfrm>
        </p:grpSpPr>
        <p:sp>
          <p:nvSpPr>
            <p:cNvPr id="59" name="Google Shape;59;p7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9535" y="4333500"/>
            <a:ext cx="1494465" cy="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983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Medium"/>
              <a:buNone/>
              <a:defRPr sz="330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sz="14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92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 Light"/>
              <a:buChar char="•"/>
              <a:defRPr sz="19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•"/>
              <a:defRPr sz="16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 Light"/>
              <a:buChar char="•"/>
              <a:defRPr sz="13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•"/>
              <a:defRPr sz="1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•"/>
              <a:defRPr sz="1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•"/>
              <a:defRPr sz="1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•"/>
              <a:defRPr sz="1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•"/>
              <a:defRPr sz="1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•"/>
              <a:defRPr sz="1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6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>
            <a:spLocks noGrp="1"/>
          </p:cNvSpPr>
          <p:nvPr>
            <p:ph type="ctrTitle"/>
          </p:nvPr>
        </p:nvSpPr>
        <p:spPr>
          <a:xfrm>
            <a:off x="0" y="2125463"/>
            <a:ext cx="9144000" cy="621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Wstęp do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body" idx="2"/>
          </p:nvPr>
        </p:nvSpPr>
        <p:spPr>
          <a:xfrm>
            <a:off x="542375" y="2564600"/>
            <a:ext cx="4847700" cy="2182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"/>
              <a:buAutoNum type="arabicPeriod"/>
            </a:pPr>
            <a:r>
              <a:rPr lang="en-US" dirty="0"/>
              <a:t>Data Science -</a:t>
            </a:r>
            <a:r>
              <a:rPr lang="en-US" dirty="0" err="1"/>
              <a:t>wprowadzenie</a:t>
            </a:r>
            <a:endParaRPr dirty="0"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"/>
              <a:buAutoNum type="arabicPeriod"/>
            </a:pPr>
            <a:r>
              <a:rPr lang="en-US" dirty="0"/>
              <a:t>Data Science -</a:t>
            </a:r>
            <a:r>
              <a:rPr lang="en-US" dirty="0" err="1"/>
              <a:t>przykłady</a:t>
            </a:r>
            <a:r>
              <a:rPr lang="en-US" dirty="0"/>
              <a:t> </a:t>
            </a:r>
            <a:r>
              <a:rPr lang="en-US" dirty="0" err="1"/>
              <a:t>zastosowań</a:t>
            </a:r>
            <a:endParaRPr dirty="0"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"/>
              <a:buAutoNum type="arabicPeriod"/>
            </a:pPr>
            <a:r>
              <a:rPr lang="pl-PL" dirty="0"/>
              <a:t>Uczenie maszynowe oraz sztuczna inteligencja</a:t>
            </a:r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1"/>
          </p:nvPr>
        </p:nvSpPr>
        <p:spPr>
          <a:xfrm>
            <a:off x="1103813" y="2047088"/>
            <a:ext cx="3563400" cy="41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Plan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>
            <a:spLocks noGrp="1"/>
          </p:cNvSpPr>
          <p:nvPr>
            <p:ph type="ctrTitle"/>
          </p:nvPr>
        </p:nvSpPr>
        <p:spPr>
          <a:xfrm>
            <a:off x="0" y="2125463"/>
            <a:ext cx="9144000" cy="621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Science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69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886606" y="320276"/>
            <a:ext cx="5424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Główne komponenty dziedziny DS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6" name="Google Shape;3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35"/>
          <p:cNvGrpSpPr/>
          <p:nvPr/>
        </p:nvGrpSpPr>
        <p:grpSpPr>
          <a:xfrm>
            <a:off x="278872" y="151780"/>
            <a:ext cx="498487" cy="504781"/>
            <a:chOff x="278872" y="151780"/>
            <a:chExt cx="498487" cy="504781"/>
          </a:xfrm>
        </p:grpSpPr>
        <p:sp>
          <p:nvSpPr>
            <p:cNvPr id="328" name="Google Shape;328;p35"/>
            <p:cNvSpPr/>
            <p:nvPr/>
          </p:nvSpPr>
          <p:spPr>
            <a:xfrm>
              <a:off x="399534" y="278736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 extrusionOk="0">
                  <a:moveTo>
                    <a:pt x="188662" y="377324"/>
                  </a:moveTo>
                  <a:lnTo>
                    <a:pt x="138508" y="370585"/>
                  </a:lnTo>
                  <a:lnTo>
                    <a:pt x="93440" y="351566"/>
                  </a:lnTo>
                  <a:lnTo>
                    <a:pt x="55257" y="322066"/>
                  </a:lnTo>
                  <a:lnTo>
                    <a:pt x="25757" y="283883"/>
                  </a:lnTo>
                  <a:lnTo>
                    <a:pt x="6739" y="238816"/>
                  </a:lnTo>
                  <a:lnTo>
                    <a:pt x="0" y="188662"/>
                  </a:lnTo>
                  <a:lnTo>
                    <a:pt x="6739" y="138508"/>
                  </a:lnTo>
                  <a:lnTo>
                    <a:pt x="25757" y="93440"/>
                  </a:lnTo>
                  <a:lnTo>
                    <a:pt x="55257" y="55257"/>
                  </a:lnTo>
                  <a:lnTo>
                    <a:pt x="93440" y="25757"/>
                  </a:lnTo>
                  <a:lnTo>
                    <a:pt x="138508" y="6739"/>
                  </a:lnTo>
                  <a:lnTo>
                    <a:pt x="188662" y="0"/>
                  </a:lnTo>
                  <a:lnTo>
                    <a:pt x="225640" y="3658"/>
                  </a:lnTo>
                  <a:lnTo>
                    <a:pt x="293332" y="31697"/>
                  </a:lnTo>
                  <a:lnTo>
                    <a:pt x="345627" y="83992"/>
                  </a:lnTo>
                  <a:lnTo>
                    <a:pt x="373666" y="151684"/>
                  </a:lnTo>
                  <a:lnTo>
                    <a:pt x="377325" y="188662"/>
                  </a:lnTo>
                  <a:lnTo>
                    <a:pt x="370585" y="238816"/>
                  </a:lnTo>
                  <a:lnTo>
                    <a:pt x="351567" y="283883"/>
                  </a:lnTo>
                  <a:lnTo>
                    <a:pt x="322067" y="322066"/>
                  </a:lnTo>
                  <a:lnTo>
                    <a:pt x="283884" y="351566"/>
                  </a:lnTo>
                  <a:lnTo>
                    <a:pt x="238816" y="370585"/>
                  </a:lnTo>
                  <a:lnTo>
                    <a:pt x="188662" y="377324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29" name="Google Shape;329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8872" y="151780"/>
              <a:ext cx="162000" cy="1619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0" name="Google Shape;330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8825" y="884588"/>
            <a:ext cx="4294802" cy="410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886606" y="320276"/>
            <a:ext cx="35991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 robi Data Scientist?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6" name="Google Shape;33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872" y="151780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36"/>
          <p:cNvGrpSpPr/>
          <p:nvPr/>
        </p:nvGrpSpPr>
        <p:grpSpPr>
          <a:xfrm>
            <a:off x="399534" y="278736"/>
            <a:ext cx="8115790" cy="4530565"/>
            <a:chOff x="399534" y="278736"/>
            <a:chExt cx="8115790" cy="4530565"/>
          </a:xfrm>
        </p:grpSpPr>
        <p:sp>
          <p:nvSpPr>
            <p:cNvPr id="339" name="Google Shape;339;p36"/>
            <p:cNvSpPr/>
            <p:nvPr/>
          </p:nvSpPr>
          <p:spPr>
            <a:xfrm>
              <a:off x="399534" y="278736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 extrusionOk="0">
                  <a:moveTo>
                    <a:pt x="188662" y="377324"/>
                  </a:moveTo>
                  <a:lnTo>
                    <a:pt x="138508" y="370585"/>
                  </a:lnTo>
                  <a:lnTo>
                    <a:pt x="93440" y="351566"/>
                  </a:lnTo>
                  <a:lnTo>
                    <a:pt x="55257" y="322066"/>
                  </a:lnTo>
                  <a:lnTo>
                    <a:pt x="25757" y="283883"/>
                  </a:lnTo>
                  <a:lnTo>
                    <a:pt x="6739" y="238816"/>
                  </a:lnTo>
                  <a:lnTo>
                    <a:pt x="0" y="188662"/>
                  </a:lnTo>
                  <a:lnTo>
                    <a:pt x="6739" y="138508"/>
                  </a:lnTo>
                  <a:lnTo>
                    <a:pt x="25757" y="93440"/>
                  </a:lnTo>
                  <a:lnTo>
                    <a:pt x="55257" y="55257"/>
                  </a:lnTo>
                  <a:lnTo>
                    <a:pt x="93440" y="25757"/>
                  </a:lnTo>
                  <a:lnTo>
                    <a:pt x="138508" y="6739"/>
                  </a:lnTo>
                  <a:lnTo>
                    <a:pt x="188662" y="0"/>
                  </a:lnTo>
                  <a:lnTo>
                    <a:pt x="225640" y="3658"/>
                  </a:lnTo>
                  <a:lnTo>
                    <a:pt x="293332" y="31697"/>
                  </a:lnTo>
                  <a:lnTo>
                    <a:pt x="345627" y="83992"/>
                  </a:lnTo>
                  <a:lnTo>
                    <a:pt x="373666" y="151684"/>
                  </a:lnTo>
                  <a:lnTo>
                    <a:pt x="377325" y="188662"/>
                  </a:lnTo>
                  <a:lnTo>
                    <a:pt x="370585" y="238816"/>
                  </a:lnTo>
                  <a:lnTo>
                    <a:pt x="351567" y="283883"/>
                  </a:lnTo>
                  <a:lnTo>
                    <a:pt x="322067" y="322066"/>
                  </a:lnTo>
                  <a:lnTo>
                    <a:pt x="283884" y="351566"/>
                  </a:lnTo>
                  <a:lnTo>
                    <a:pt x="238816" y="370585"/>
                  </a:lnTo>
                  <a:lnTo>
                    <a:pt x="188662" y="377324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40" name="Google Shape;340;p3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8975" y="597501"/>
              <a:ext cx="7996349" cy="4211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7"/>
          <p:cNvSpPr/>
          <p:nvPr/>
        </p:nvSpPr>
        <p:spPr>
          <a:xfrm>
            <a:off x="399534" y="278736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47" name="Google Shape;347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872" y="15178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9535" y="4333500"/>
            <a:ext cx="1494464" cy="8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0500" y="1770500"/>
            <a:ext cx="8603002" cy="136964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7"/>
          <p:cNvSpPr txBox="1">
            <a:spLocks noGrp="1"/>
          </p:cNvSpPr>
          <p:nvPr>
            <p:ph type="title"/>
          </p:nvPr>
        </p:nvSpPr>
        <p:spPr>
          <a:xfrm>
            <a:off x="886606" y="320276"/>
            <a:ext cx="5160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Najważniejszy cel Data Scientist</a:t>
            </a:r>
            <a:endParaRPr sz="2400"/>
          </a:p>
        </p:txBody>
      </p:sp>
      <p:pic>
        <p:nvPicPr>
          <p:cNvPr id="352" name="Google Shape;35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37"/>
          <p:cNvGrpSpPr/>
          <p:nvPr/>
        </p:nvGrpSpPr>
        <p:grpSpPr>
          <a:xfrm>
            <a:off x="278872" y="151780"/>
            <a:ext cx="498487" cy="504781"/>
            <a:chOff x="278872" y="151780"/>
            <a:chExt cx="498487" cy="504781"/>
          </a:xfrm>
        </p:grpSpPr>
        <p:sp>
          <p:nvSpPr>
            <p:cNvPr id="354" name="Google Shape;354;p37"/>
            <p:cNvSpPr/>
            <p:nvPr/>
          </p:nvSpPr>
          <p:spPr>
            <a:xfrm>
              <a:off x="399534" y="278736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 extrusionOk="0">
                  <a:moveTo>
                    <a:pt x="188662" y="377324"/>
                  </a:moveTo>
                  <a:lnTo>
                    <a:pt x="138508" y="370585"/>
                  </a:lnTo>
                  <a:lnTo>
                    <a:pt x="93440" y="351566"/>
                  </a:lnTo>
                  <a:lnTo>
                    <a:pt x="55257" y="322066"/>
                  </a:lnTo>
                  <a:lnTo>
                    <a:pt x="25757" y="283883"/>
                  </a:lnTo>
                  <a:lnTo>
                    <a:pt x="6739" y="238816"/>
                  </a:lnTo>
                  <a:lnTo>
                    <a:pt x="0" y="188662"/>
                  </a:lnTo>
                  <a:lnTo>
                    <a:pt x="6739" y="138508"/>
                  </a:lnTo>
                  <a:lnTo>
                    <a:pt x="25757" y="93440"/>
                  </a:lnTo>
                  <a:lnTo>
                    <a:pt x="55257" y="55257"/>
                  </a:lnTo>
                  <a:lnTo>
                    <a:pt x="93440" y="25757"/>
                  </a:lnTo>
                  <a:lnTo>
                    <a:pt x="138508" y="6739"/>
                  </a:lnTo>
                  <a:lnTo>
                    <a:pt x="188662" y="0"/>
                  </a:lnTo>
                  <a:lnTo>
                    <a:pt x="225640" y="3658"/>
                  </a:lnTo>
                  <a:lnTo>
                    <a:pt x="293332" y="31697"/>
                  </a:lnTo>
                  <a:lnTo>
                    <a:pt x="345627" y="83992"/>
                  </a:lnTo>
                  <a:lnTo>
                    <a:pt x="373666" y="151684"/>
                  </a:lnTo>
                  <a:lnTo>
                    <a:pt x="377325" y="188662"/>
                  </a:lnTo>
                  <a:lnTo>
                    <a:pt x="370585" y="238816"/>
                  </a:lnTo>
                  <a:lnTo>
                    <a:pt x="351567" y="283883"/>
                  </a:lnTo>
                  <a:lnTo>
                    <a:pt x="322067" y="322066"/>
                  </a:lnTo>
                  <a:lnTo>
                    <a:pt x="283884" y="351566"/>
                  </a:lnTo>
                  <a:lnTo>
                    <a:pt x="238816" y="370585"/>
                  </a:lnTo>
                  <a:lnTo>
                    <a:pt x="188662" y="377324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55" name="Google Shape;355;p3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8872" y="151780"/>
              <a:ext cx="162000" cy="161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37"/>
          <p:cNvSpPr txBox="1"/>
          <p:nvPr/>
        </p:nvSpPr>
        <p:spPr>
          <a:xfrm>
            <a:off x="492925" y="1883025"/>
            <a:ext cx="8015400" cy="107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scientist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danolog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mistrz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danych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- </a:t>
            </a:r>
            <a:r>
              <a:rPr lang="pl-PL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osoba, która wydobywa wiedzę czy informacje z danych, w celu rozwiązania określonego problemu.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/>
          <p:nvPr/>
        </p:nvSpPr>
        <p:spPr>
          <a:xfrm>
            <a:off x="634484" y="2088486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4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4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20" name="Google Shape;42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547" y="220078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822" y="1961530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41"/>
          <p:cNvGrpSpPr/>
          <p:nvPr/>
        </p:nvGrpSpPr>
        <p:grpSpPr>
          <a:xfrm>
            <a:off x="5516544" y="0"/>
            <a:ext cx="3627453" cy="5143499"/>
            <a:chOff x="5516544" y="0"/>
            <a:chExt cx="3627453" cy="5143499"/>
          </a:xfrm>
        </p:grpSpPr>
        <p:pic>
          <p:nvPicPr>
            <p:cNvPr id="423" name="Google Shape;423;p4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16544" y="0"/>
              <a:ext cx="3627453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4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084884" y="1896750"/>
              <a:ext cx="2490773" cy="1349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5" name="Google Shape;425;p41"/>
          <p:cNvSpPr/>
          <p:nvPr/>
        </p:nvSpPr>
        <p:spPr>
          <a:xfrm>
            <a:off x="634484" y="2088486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4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4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26" name="Google Shape;42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547" y="220078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822" y="1961530"/>
            <a:ext cx="162000" cy="16199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1"/>
          <p:cNvSpPr txBox="1">
            <a:spLocks noGrp="1"/>
          </p:cNvSpPr>
          <p:nvPr>
            <p:ph type="title"/>
          </p:nvPr>
        </p:nvSpPr>
        <p:spPr>
          <a:xfrm>
            <a:off x="1136150" y="2190611"/>
            <a:ext cx="37587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141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Science</a:t>
            </a:r>
            <a:endParaRPr sz="2150">
              <a:latin typeface="Poppins"/>
              <a:ea typeface="Poppins"/>
              <a:cs typeface="Poppins"/>
              <a:sym typeface="Poppins"/>
            </a:endParaRPr>
          </a:p>
          <a:p>
            <a:pPr marL="83185" lvl="0" indent="0" algn="l" rtl="0">
              <a:lnSpc>
                <a:spcPct val="1141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	przykłady zastosowań</a:t>
            </a:r>
            <a:endParaRPr sz="21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p41"/>
          <p:cNvSpPr txBox="1"/>
          <p:nvPr/>
        </p:nvSpPr>
        <p:spPr>
          <a:xfrm>
            <a:off x="1910964" y="4862555"/>
            <a:ext cx="169608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6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infoShareAcademy.com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/>
          <p:nvPr/>
        </p:nvSpPr>
        <p:spPr>
          <a:xfrm>
            <a:off x="449511" y="317463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35" name="Google Shape;43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574" y="42976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849" y="190507"/>
            <a:ext cx="162000" cy="161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2"/>
          <p:cNvSpPr txBox="1">
            <a:spLocks noGrp="1"/>
          </p:cNvSpPr>
          <p:nvPr>
            <p:ph type="title"/>
          </p:nvPr>
        </p:nvSpPr>
        <p:spPr>
          <a:xfrm>
            <a:off x="1055700" y="262750"/>
            <a:ext cx="43986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</a:rPr>
              <a:t>Sektor </a:t>
            </a:r>
            <a:r>
              <a:rPr lang="en-US" sz="2400" dirty="0" err="1">
                <a:solidFill>
                  <a:srgbClr val="000000"/>
                </a:solidFill>
              </a:rPr>
              <a:t>rozrywkowy</a:t>
            </a:r>
            <a:endParaRPr sz="2400" dirty="0"/>
          </a:p>
          <a:p>
            <a:pPr marL="64135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</a:rPr>
              <a:t>- </a:t>
            </a:r>
            <a:r>
              <a:rPr lang="pl-PL" sz="2400" dirty="0">
                <a:solidFill>
                  <a:srgbClr val="000000"/>
                </a:solidFill>
              </a:rPr>
              <a:t>Serwis </a:t>
            </a:r>
            <a:r>
              <a:rPr lang="pl-PL" sz="2400" dirty="0" err="1">
                <a:solidFill>
                  <a:srgbClr val="000000"/>
                </a:solidFill>
              </a:rPr>
              <a:t>streamingowy</a:t>
            </a:r>
            <a:endParaRPr sz="2400" dirty="0"/>
          </a:p>
        </p:txBody>
      </p:sp>
      <p:sp>
        <p:nvSpPr>
          <p:cNvPr id="443" name="Google Shape;443;p42"/>
          <p:cNvSpPr/>
          <p:nvPr/>
        </p:nvSpPr>
        <p:spPr>
          <a:xfrm>
            <a:off x="604849" y="2212450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4" name="Google Shape;444;p42"/>
          <p:cNvSpPr txBox="1"/>
          <p:nvPr/>
        </p:nvSpPr>
        <p:spPr>
          <a:xfrm>
            <a:off x="604850" y="2373025"/>
            <a:ext cx="1634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3257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PROBLEM/  POTENCJAŁ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p42"/>
          <p:cNvSpPr/>
          <p:nvPr/>
        </p:nvSpPr>
        <p:spPr>
          <a:xfrm>
            <a:off x="604849" y="3059428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5500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6" name="Google Shape;446;p42"/>
          <p:cNvSpPr txBox="1"/>
          <p:nvPr/>
        </p:nvSpPr>
        <p:spPr>
          <a:xfrm>
            <a:off x="604850" y="3220001"/>
            <a:ext cx="1634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873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OCZEKIWANA  WARTOŚĆ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604849" y="3906406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8" name="Google Shape;448;p42"/>
          <p:cNvSpPr txBox="1"/>
          <p:nvPr/>
        </p:nvSpPr>
        <p:spPr>
          <a:xfrm>
            <a:off x="604850" y="4066976"/>
            <a:ext cx="1634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ROZWIĄZANIE  DATA SCIENCE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9" name="Google Shape;449;p42"/>
          <p:cNvGrpSpPr/>
          <p:nvPr/>
        </p:nvGrpSpPr>
        <p:grpSpPr>
          <a:xfrm>
            <a:off x="2099449" y="2238250"/>
            <a:ext cx="2955925" cy="735965"/>
            <a:chOff x="2099449" y="2238250"/>
            <a:chExt cx="2955925" cy="735965"/>
          </a:xfrm>
        </p:grpSpPr>
        <p:sp>
          <p:nvSpPr>
            <p:cNvPr id="450" name="Google Shape;450;p42"/>
            <p:cNvSpPr/>
            <p:nvPr/>
          </p:nvSpPr>
          <p:spPr>
            <a:xfrm>
              <a:off x="2099449" y="2238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1" name="Google Shape;451;p42"/>
            <p:cNvSpPr/>
            <p:nvPr/>
          </p:nvSpPr>
          <p:spPr>
            <a:xfrm>
              <a:off x="2099449" y="2238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0B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52" name="Google Shape;452;p42"/>
          <p:cNvSpPr txBox="1"/>
          <p:nvPr/>
        </p:nvSpPr>
        <p:spPr>
          <a:xfrm>
            <a:off x="2099449" y="2408181"/>
            <a:ext cx="29514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0" lvl="0" indent="0" algn="l" rtl="0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Rosnąca ilość treści, liczna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marL="85725" marR="0" lvl="0" indent="0" algn="l" rtl="0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konkurencja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3" name="Google Shape;453;p42"/>
          <p:cNvGrpSpPr/>
          <p:nvPr/>
        </p:nvGrpSpPr>
        <p:grpSpPr>
          <a:xfrm>
            <a:off x="2099449" y="3085250"/>
            <a:ext cx="2955925" cy="735965"/>
            <a:chOff x="2099449" y="3085250"/>
            <a:chExt cx="2955925" cy="735965"/>
          </a:xfrm>
        </p:grpSpPr>
        <p:sp>
          <p:nvSpPr>
            <p:cNvPr id="454" name="Google Shape;454;p42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42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5500F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56" name="Google Shape;456;p42"/>
          <p:cNvSpPr txBox="1"/>
          <p:nvPr/>
        </p:nvSpPr>
        <p:spPr>
          <a:xfrm>
            <a:off x="2099449" y="3172885"/>
            <a:ext cx="29514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9017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Klienci, którym pokazywane są trafne  treści, chętniej przedłużą  subskrypcje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7" name="Google Shape;457;p42"/>
          <p:cNvGrpSpPr/>
          <p:nvPr/>
        </p:nvGrpSpPr>
        <p:grpSpPr>
          <a:xfrm>
            <a:off x="2099449" y="3932199"/>
            <a:ext cx="2955925" cy="735965"/>
            <a:chOff x="2099449" y="3932199"/>
            <a:chExt cx="2955925" cy="735965"/>
          </a:xfrm>
        </p:grpSpPr>
        <p:sp>
          <p:nvSpPr>
            <p:cNvPr id="458" name="Google Shape;458;p42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9" name="Google Shape;459;p42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60" name="Google Shape;460;p42"/>
          <p:cNvSpPr txBox="1"/>
          <p:nvPr/>
        </p:nvSpPr>
        <p:spPr>
          <a:xfrm>
            <a:off x="2099449" y="4019835"/>
            <a:ext cx="29514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415925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System rekomendacyjny  zapewniający spersonalizowane  treści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42"/>
          <p:cNvSpPr txBox="1"/>
          <p:nvPr/>
        </p:nvSpPr>
        <p:spPr>
          <a:xfrm>
            <a:off x="1910977" y="4862550"/>
            <a:ext cx="19680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6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infoShareAcademy.com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Google Shape;422;p41">
            <a:extLst>
              <a:ext uri="{FF2B5EF4-FFF2-40B4-BE49-F238E27FC236}">
                <a16:creationId xmlns:a16="http://schemas.microsoft.com/office/drawing/2014/main" id="{817F96EB-EB51-003D-D6BB-099D94C73338}"/>
              </a:ext>
            </a:extLst>
          </p:cNvPr>
          <p:cNvGrpSpPr/>
          <p:nvPr/>
        </p:nvGrpSpPr>
        <p:grpSpPr>
          <a:xfrm>
            <a:off x="5516544" y="0"/>
            <a:ext cx="3627453" cy="5143499"/>
            <a:chOff x="5516544" y="0"/>
            <a:chExt cx="3627453" cy="5143499"/>
          </a:xfrm>
        </p:grpSpPr>
        <p:pic>
          <p:nvPicPr>
            <p:cNvPr id="3" name="Google Shape;423;p41">
              <a:extLst>
                <a:ext uri="{FF2B5EF4-FFF2-40B4-BE49-F238E27FC236}">
                  <a16:creationId xmlns:a16="http://schemas.microsoft.com/office/drawing/2014/main" id="{486BE0FB-9314-9BE8-8905-1D1173BACD2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16544" y="0"/>
              <a:ext cx="3627453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424;p41">
              <a:extLst>
                <a:ext uri="{FF2B5EF4-FFF2-40B4-BE49-F238E27FC236}">
                  <a16:creationId xmlns:a16="http://schemas.microsoft.com/office/drawing/2014/main" id="{2F97B341-7EF6-BED1-44FF-AFDEF2E68B0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084884" y="1896750"/>
              <a:ext cx="2490773" cy="1349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/>
          <p:cNvSpPr/>
          <p:nvPr/>
        </p:nvSpPr>
        <p:spPr>
          <a:xfrm>
            <a:off x="604849" y="2212475"/>
            <a:ext cx="1494789" cy="827666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7" name="Google Shape;597;p47"/>
          <p:cNvSpPr/>
          <p:nvPr/>
        </p:nvSpPr>
        <p:spPr>
          <a:xfrm>
            <a:off x="449511" y="317463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98" name="Google Shape;59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574" y="42976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849" y="190507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0" name="Google Shape;600;p47"/>
          <p:cNvGrpSpPr/>
          <p:nvPr/>
        </p:nvGrpSpPr>
        <p:grpSpPr>
          <a:xfrm>
            <a:off x="5578330" y="0"/>
            <a:ext cx="3565949" cy="5143500"/>
            <a:chOff x="5578330" y="0"/>
            <a:chExt cx="3565949" cy="5143500"/>
          </a:xfrm>
        </p:grpSpPr>
        <p:pic>
          <p:nvPicPr>
            <p:cNvPr id="601" name="Google Shape;601;p4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78330" y="0"/>
              <a:ext cx="134956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p4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649535" y="0"/>
              <a:ext cx="1494464" cy="80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7"/>
            <p:cNvSpPr/>
            <p:nvPr/>
          </p:nvSpPr>
          <p:spPr>
            <a:xfrm>
              <a:off x="5703850" y="0"/>
              <a:ext cx="3440429" cy="5143500"/>
            </a:xfrm>
            <a:custGeom>
              <a:avLst/>
              <a:gdLst/>
              <a:ahLst/>
              <a:cxnLst/>
              <a:rect l="l" t="t" r="r" b="b"/>
              <a:pathLst>
                <a:path w="3440429" h="5143500" extrusionOk="0">
                  <a:moveTo>
                    <a:pt x="34400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3440099" y="0"/>
                  </a:lnTo>
                  <a:lnTo>
                    <a:pt x="3440099" y="5143499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4" name="Google Shape;604;p47"/>
            <p:cNvSpPr/>
            <p:nvPr/>
          </p:nvSpPr>
          <p:spPr>
            <a:xfrm>
              <a:off x="5703850" y="0"/>
              <a:ext cx="3440429" cy="5143500"/>
            </a:xfrm>
            <a:custGeom>
              <a:avLst/>
              <a:gdLst/>
              <a:ahLst/>
              <a:cxnLst/>
              <a:rect l="l" t="t" r="r" b="b"/>
              <a:pathLst>
                <a:path w="3440429" h="5143500" extrusionOk="0">
                  <a:moveTo>
                    <a:pt x="0" y="0"/>
                  </a:moveTo>
                  <a:lnTo>
                    <a:pt x="3440099" y="0"/>
                  </a:lnTo>
                  <a:lnTo>
                    <a:pt x="34400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0B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605" name="Google Shape;605;p4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49535" y="0"/>
              <a:ext cx="1494464" cy="809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4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653675" y="1699124"/>
              <a:ext cx="3440099" cy="1936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7" name="Google Shape;607;p47"/>
          <p:cNvSpPr txBox="1">
            <a:spLocks noGrp="1"/>
          </p:cNvSpPr>
          <p:nvPr>
            <p:ph type="title"/>
          </p:nvPr>
        </p:nvSpPr>
        <p:spPr>
          <a:xfrm>
            <a:off x="869638" y="190500"/>
            <a:ext cx="4329900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dirty="0">
                <a:solidFill>
                  <a:srgbClr val="000000"/>
                </a:solidFill>
              </a:rPr>
              <a:t>Zjawisko </a:t>
            </a:r>
            <a:r>
              <a:rPr lang="pl-PL" sz="2400" dirty="0" err="1">
                <a:solidFill>
                  <a:srgbClr val="000000"/>
                </a:solidFill>
              </a:rPr>
              <a:t>churn</a:t>
            </a:r>
            <a:endParaRPr sz="2400"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08" name="Google Shape;608;p47"/>
          <p:cNvSpPr txBox="1"/>
          <p:nvPr/>
        </p:nvSpPr>
        <p:spPr>
          <a:xfrm>
            <a:off x="604850" y="2238250"/>
            <a:ext cx="1591800" cy="579900"/>
          </a:xfrm>
          <a:prstGeom prst="rect">
            <a:avLst/>
          </a:prstGeom>
          <a:solidFill>
            <a:srgbClr val="F10B31"/>
          </a:solidFill>
          <a:ln>
            <a:noFill/>
          </a:ln>
        </p:spPr>
        <p:txBody>
          <a:bodyPr spcFirstLastPara="1" wrap="square" lIns="0" tIns="147300" rIns="0" bIns="0" anchor="t" anchorCtr="0">
            <a:spAutoFit/>
          </a:bodyPr>
          <a:lstStyle/>
          <a:p>
            <a:pPr marL="85725" marR="3257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PROBLEM/  POTENCJAŁ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p47"/>
          <p:cNvSpPr/>
          <p:nvPr/>
        </p:nvSpPr>
        <p:spPr>
          <a:xfrm>
            <a:off x="604849" y="3059428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5500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0" name="Google Shape;610;p47"/>
          <p:cNvSpPr txBox="1"/>
          <p:nvPr/>
        </p:nvSpPr>
        <p:spPr>
          <a:xfrm>
            <a:off x="604850" y="3220003"/>
            <a:ext cx="15918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873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OCZEKIWANA  WARTOŚĆ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p47"/>
          <p:cNvSpPr/>
          <p:nvPr/>
        </p:nvSpPr>
        <p:spPr>
          <a:xfrm>
            <a:off x="604849" y="3906406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2" name="Google Shape;612;p47"/>
          <p:cNvSpPr txBox="1"/>
          <p:nvPr/>
        </p:nvSpPr>
        <p:spPr>
          <a:xfrm>
            <a:off x="604850" y="4066977"/>
            <a:ext cx="15918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ROZWIĄZANIE  DATA SCIENCE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p47"/>
          <p:cNvSpPr txBox="1"/>
          <p:nvPr/>
        </p:nvSpPr>
        <p:spPr>
          <a:xfrm>
            <a:off x="2099449" y="2208785"/>
            <a:ext cx="2951400" cy="811746"/>
          </a:xfrm>
          <a:prstGeom prst="rect">
            <a:avLst/>
          </a:prstGeom>
          <a:solidFill>
            <a:srgbClr val="F1F1F1"/>
          </a:solidFill>
          <a:ln w="9525" cap="flat" cmpd="sng">
            <a:solidFill>
              <a:srgbClr val="F10B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latin typeface="Poppins"/>
              <a:ea typeface="Poppins"/>
              <a:cs typeface="Poppins"/>
              <a:sym typeface="Poppins"/>
            </a:endParaRPr>
          </a:p>
          <a:p>
            <a:pPr marL="80645" marR="521969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Poppins"/>
                <a:ea typeface="Poppins"/>
                <a:cs typeface="Poppins"/>
                <a:sym typeface="Poppins"/>
              </a:rPr>
              <a:t>Wysoki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Poppins"/>
                <a:ea typeface="Poppins"/>
                <a:cs typeface="Poppins"/>
                <a:sym typeface="Poppins"/>
              </a:rPr>
              <a:t>odsetek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Poppins"/>
                <a:ea typeface="Poppins"/>
                <a:cs typeface="Poppins"/>
                <a:sym typeface="Poppins"/>
              </a:rPr>
              <a:t>odchodzących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1200" dirty="0" err="1">
                <a:latin typeface="Poppins"/>
                <a:ea typeface="Poppins"/>
                <a:cs typeface="Poppins"/>
                <a:sym typeface="Poppins"/>
              </a:rPr>
              <a:t>klientów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200" dirty="0" err="1">
                <a:latin typeface="Poppins"/>
                <a:ea typeface="Poppins"/>
                <a:cs typeface="Poppins"/>
                <a:sym typeface="Poppins"/>
              </a:rPr>
              <a:t>rezygnujących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 z </a:t>
            </a:r>
            <a:r>
              <a:rPr lang="en-US" sz="1200" dirty="0" err="1">
                <a:latin typeface="Poppins"/>
                <a:ea typeface="Poppins"/>
                <a:cs typeface="Poppins"/>
                <a:sym typeface="Poppins"/>
              </a:rPr>
              <a:t>usług</a:t>
            </a:r>
            <a:r>
              <a:rPr lang="pl-PL" sz="1200" dirty="0"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pl-PL" sz="1200" dirty="0" err="1">
                <a:latin typeface="Poppins"/>
                <a:ea typeface="Poppins"/>
                <a:cs typeface="Poppins"/>
                <a:sym typeface="Poppins"/>
              </a:rPr>
              <a:t>churn</a:t>
            </a:r>
            <a:r>
              <a:rPr lang="pl-PL" sz="1200" dirty="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4" name="Google Shape;614;p47"/>
          <p:cNvGrpSpPr/>
          <p:nvPr/>
        </p:nvGrpSpPr>
        <p:grpSpPr>
          <a:xfrm>
            <a:off x="2099449" y="3085250"/>
            <a:ext cx="2955925" cy="735965"/>
            <a:chOff x="2099449" y="3085250"/>
            <a:chExt cx="2955925" cy="735965"/>
          </a:xfrm>
        </p:grpSpPr>
        <p:sp>
          <p:nvSpPr>
            <p:cNvPr id="615" name="Google Shape;615;p47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6" name="Google Shape;616;p47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5500F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7" name="Google Shape;617;p47"/>
          <p:cNvSpPr txBox="1"/>
          <p:nvPr/>
        </p:nvSpPr>
        <p:spPr>
          <a:xfrm>
            <a:off x="2099449" y="3172885"/>
            <a:ext cx="29514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407669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“Zatrzymanie” wartościowych  klientów, pośrednio zwiększające  przyszły zysk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8" name="Google Shape;618;p47"/>
          <p:cNvGrpSpPr/>
          <p:nvPr/>
        </p:nvGrpSpPr>
        <p:grpSpPr>
          <a:xfrm>
            <a:off x="2099449" y="3932199"/>
            <a:ext cx="2955925" cy="735965"/>
            <a:chOff x="2099449" y="3932199"/>
            <a:chExt cx="2955925" cy="735965"/>
          </a:xfrm>
        </p:grpSpPr>
        <p:sp>
          <p:nvSpPr>
            <p:cNvPr id="619" name="Google Shape;619;p47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21" name="Google Shape;621;p47"/>
          <p:cNvSpPr txBox="1"/>
          <p:nvPr/>
        </p:nvSpPr>
        <p:spPr>
          <a:xfrm>
            <a:off x="2099449" y="3937539"/>
            <a:ext cx="29514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222884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Namierzenie klientów o wysokiej  wartości i wysokim ryzyku tzw.  churnu, w celu szybkiego podjęcia  kroków zatrzymania takich klientów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47"/>
          <p:cNvSpPr txBox="1"/>
          <p:nvPr/>
        </p:nvSpPr>
        <p:spPr>
          <a:xfrm>
            <a:off x="1910977" y="4862550"/>
            <a:ext cx="20001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6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infoShareAcademy.com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0"/>
          <p:cNvSpPr/>
          <p:nvPr/>
        </p:nvSpPr>
        <p:spPr>
          <a:xfrm>
            <a:off x="449511" y="317463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98" name="Google Shape;69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574" y="42976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849" y="190507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0" name="Google Shape;700;p50"/>
          <p:cNvGrpSpPr/>
          <p:nvPr/>
        </p:nvGrpSpPr>
        <p:grpSpPr>
          <a:xfrm>
            <a:off x="5578330" y="0"/>
            <a:ext cx="3565949" cy="5143500"/>
            <a:chOff x="5578330" y="0"/>
            <a:chExt cx="3565949" cy="5143500"/>
          </a:xfrm>
        </p:grpSpPr>
        <p:pic>
          <p:nvPicPr>
            <p:cNvPr id="701" name="Google Shape;701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78330" y="0"/>
              <a:ext cx="134956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2" name="Google Shape;702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649535" y="0"/>
              <a:ext cx="1494464" cy="80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50"/>
            <p:cNvSpPr/>
            <p:nvPr/>
          </p:nvSpPr>
          <p:spPr>
            <a:xfrm>
              <a:off x="5703850" y="0"/>
              <a:ext cx="3440429" cy="5143500"/>
            </a:xfrm>
            <a:custGeom>
              <a:avLst/>
              <a:gdLst/>
              <a:ahLst/>
              <a:cxnLst/>
              <a:rect l="l" t="t" r="r" b="b"/>
              <a:pathLst>
                <a:path w="3440429" h="5143500" extrusionOk="0">
                  <a:moveTo>
                    <a:pt x="34400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3440099" y="0"/>
                  </a:lnTo>
                  <a:lnTo>
                    <a:pt x="3440099" y="5143499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4" name="Google Shape;704;p50"/>
            <p:cNvSpPr/>
            <p:nvPr/>
          </p:nvSpPr>
          <p:spPr>
            <a:xfrm>
              <a:off x="5703850" y="0"/>
              <a:ext cx="3440429" cy="5143500"/>
            </a:xfrm>
            <a:custGeom>
              <a:avLst/>
              <a:gdLst/>
              <a:ahLst/>
              <a:cxnLst/>
              <a:rect l="l" t="t" r="r" b="b"/>
              <a:pathLst>
                <a:path w="3440429" h="5143500" extrusionOk="0">
                  <a:moveTo>
                    <a:pt x="0" y="0"/>
                  </a:moveTo>
                  <a:lnTo>
                    <a:pt x="3440099" y="0"/>
                  </a:lnTo>
                  <a:lnTo>
                    <a:pt x="34400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0B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705" name="Google Shape;705;p5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49535" y="0"/>
              <a:ext cx="1494464" cy="809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p50"/>
          <p:cNvSpPr txBox="1">
            <a:spLocks noGrp="1"/>
          </p:cNvSpPr>
          <p:nvPr>
            <p:ph type="title"/>
          </p:nvPr>
        </p:nvSpPr>
        <p:spPr>
          <a:xfrm>
            <a:off x="1081625" y="352500"/>
            <a:ext cx="4383300" cy="8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dirty="0">
                <a:solidFill>
                  <a:srgbClr val="000000"/>
                </a:solidFill>
              </a:rPr>
              <a:t>Bankowość</a:t>
            </a:r>
            <a:endParaRPr sz="2400" dirty="0"/>
          </a:p>
          <a:p>
            <a:pPr marL="65405" lvl="0" indent="0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</a:rPr>
              <a:t>-	</a:t>
            </a:r>
            <a:r>
              <a:rPr lang="pl-PL" sz="2400" dirty="0">
                <a:solidFill>
                  <a:srgbClr val="000000"/>
                </a:solidFill>
              </a:rPr>
              <a:t>ryzyko kredytowe</a:t>
            </a:r>
            <a:endParaRPr sz="2400" dirty="0"/>
          </a:p>
        </p:txBody>
      </p:sp>
      <p:sp>
        <p:nvSpPr>
          <p:cNvPr id="708" name="Google Shape;708;p50"/>
          <p:cNvSpPr txBox="1"/>
          <p:nvPr/>
        </p:nvSpPr>
        <p:spPr>
          <a:xfrm>
            <a:off x="604850" y="2238250"/>
            <a:ext cx="1602600" cy="735900"/>
          </a:xfrm>
          <a:prstGeom prst="rect">
            <a:avLst/>
          </a:prstGeom>
          <a:solidFill>
            <a:srgbClr val="F10B31"/>
          </a:solidFill>
          <a:ln>
            <a:noFill/>
          </a:ln>
        </p:spPr>
        <p:txBody>
          <a:bodyPr spcFirstLastPara="1" wrap="square" lIns="0" tIns="147300" rIns="0" bIns="0" anchor="t" anchorCtr="0">
            <a:noAutofit/>
          </a:bodyPr>
          <a:lstStyle/>
          <a:p>
            <a:pPr marL="85725" marR="3257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PROBLEM/  POTENCJAŁ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9" name="Google Shape;709;p50"/>
          <p:cNvSpPr/>
          <p:nvPr/>
        </p:nvSpPr>
        <p:spPr>
          <a:xfrm>
            <a:off x="604849" y="3059428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5500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0" name="Google Shape;710;p50"/>
          <p:cNvSpPr txBox="1"/>
          <p:nvPr/>
        </p:nvSpPr>
        <p:spPr>
          <a:xfrm>
            <a:off x="604850" y="3220003"/>
            <a:ext cx="1602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873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OCZEKIWANA  WARTOŚĆ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1" name="Google Shape;711;p50"/>
          <p:cNvSpPr/>
          <p:nvPr/>
        </p:nvSpPr>
        <p:spPr>
          <a:xfrm>
            <a:off x="604849" y="3906406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2" name="Google Shape;712;p50"/>
          <p:cNvSpPr txBox="1"/>
          <p:nvPr/>
        </p:nvSpPr>
        <p:spPr>
          <a:xfrm>
            <a:off x="604850" y="4066977"/>
            <a:ext cx="1602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ROZWIĄZANIE  DATA SCIENCE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3" name="Google Shape;713;p50"/>
          <p:cNvSpPr txBox="1"/>
          <p:nvPr/>
        </p:nvSpPr>
        <p:spPr>
          <a:xfrm>
            <a:off x="2104212" y="2238250"/>
            <a:ext cx="2951400" cy="720069"/>
          </a:xfrm>
          <a:prstGeom prst="rect">
            <a:avLst/>
          </a:prstGeom>
          <a:solidFill>
            <a:srgbClr val="F1F1F1"/>
          </a:solidFill>
          <a:ln w="9525" cap="flat" cmpd="sng">
            <a:solidFill>
              <a:srgbClr val="F10B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0650" rIns="0" bIns="0" anchor="t" anchorCtr="0">
            <a:spAutoFit/>
          </a:bodyPr>
          <a:lstStyle/>
          <a:p>
            <a:pPr marL="80645" marR="103504" lvl="0" indent="0" algn="just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>
                <a:latin typeface="Poppins"/>
                <a:ea typeface="Poppins"/>
                <a:cs typeface="Poppins"/>
                <a:sym typeface="Poppins"/>
              </a:rPr>
              <a:t>Udzielenie kredytu osobie, która nie będzie go spłacać powoduje straty banku</a:t>
            </a:r>
            <a:endParaRPr sz="12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14" name="Google Shape;714;p50"/>
          <p:cNvGrpSpPr/>
          <p:nvPr/>
        </p:nvGrpSpPr>
        <p:grpSpPr>
          <a:xfrm>
            <a:off x="2099449" y="3085250"/>
            <a:ext cx="2955925" cy="735965"/>
            <a:chOff x="2099449" y="3085250"/>
            <a:chExt cx="2955925" cy="735965"/>
          </a:xfrm>
        </p:grpSpPr>
        <p:sp>
          <p:nvSpPr>
            <p:cNvPr id="715" name="Google Shape;715;p50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5500F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17" name="Google Shape;717;p50"/>
          <p:cNvSpPr txBox="1"/>
          <p:nvPr/>
        </p:nvSpPr>
        <p:spPr>
          <a:xfrm>
            <a:off x="2099450" y="3172875"/>
            <a:ext cx="3194100" cy="43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1010919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>
                <a:latin typeface="Poppins"/>
                <a:ea typeface="Poppins"/>
                <a:cs typeface="Poppins"/>
                <a:sym typeface="Poppins"/>
              </a:rPr>
              <a:t>Zmniejszenie kosztów / ryzyka</a:t>
            </a:r>
            <a:endParaRPr sz="12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18" name="Google Shape;718;p50"/>
          <p:cNvGrpSpPr/>
          <p:nvPr/>
        </p:nvGrpSpPr>
        <p:grpSpPr>
          <a:xfrm>
            <a:off x="2099449" y="3932199"/>
            <a:ext cx="2955925" cy="735965"/>
            <a:chOff x="2099449" y="3932199"/>
            <a:chExt cx="2955925" cy="735965"/>
          </a:xfrm>
        </p:grpSpPr>
        <p:sp>
          <p:nvSpPr>
            <p:cNvPr id="719" name="Google Shape;719;p50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21" name="Google Shape;721;p50"/>
          <p:cNvSpPr txBox="1"/>
          <p:nvPr/>
        </p:nvSpPr>
        <p:spPr>
          <a:xfrm>
            <a:off x="2099450" y="3937550"/>
            <a:ext cx="3194100" cy="39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32639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 dirty="0">
                <a:latin typeface="Poppins"/>
                <a:ea typeface="Poppins"/>
                <a:cs typeface="Poppins"/>
                <a:sym typeface="Poppins"/>
              </a:rPr>
              <a:t>System identyfikujący potencjalny </a:t>
            </a:r>
            <a:r>
              <a:rPr lang="pl-PL" sz="1100" dirty="0" err="1">
                <a:latin typeface="Poppins"/>
                <a:ea typeface="Poppins"/>
                <a:cs typeface="Poppins"/>
                <a:sym typeface="Poppins"/>
              </a:rPr>
              <a:t>default</a:t>
            </a:r>
            <a:r>
              <a:rPr lang="pl-PL" sz="1100" dirty="0">
                <a:latin typeface="Poppins"/>
                <a:ea typeface="Poppins"/>
                <a:cs typeface="Poppins"/>
                <a:sym typeface="Poppins"/>
              </a:rPr>
              <a:t> (klient </a:t>
            </a:r>
            <a:r>
              <a:rPr lang="pl-PL" sz="1100" dirty="0" err="1">
                <a:latin typeface="Poppins"/>
                <a:ea typeface="Poppins"/>
                <a:cs typeface="Poppins"/>
                <a:sym typeface="Poppins"/>
              </a:rPr>
              <a:t>niespałacający</a:t>
            </a:r>
            <a:r>
              <a:rPr lang="pl-PL" sz="1100" dirty="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2" name="Google Shape;722;p50"/>
          <p:cNvSpPr txBox="1"/>
          <p:nvPr/>
        </p:nvSpPr>
        <p:spPr>
          <a:xfrm>
            <a:off x="1911051" y="4862450"/>
            <a:ext cx="18393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6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infoShareAcademy.com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17686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0"/>
          <p:cNvSpPr/>
          <p:nvPr/>
        </p:nvSpPr>
        <p:spPr>
          <a:xfrm>
            <a:off x="449511" y="317463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98" name="Google Shape;69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574" y="42976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849" y="190507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0" name="Google Shape;700;p50"/>
          <p:cNvGrpSpPr/>
          <p:nvPr/>
        </p:nvGrpSpPr>
        <p:grpSpPr>
          <a:xfrm>
            <a:off x="5578330" y="0"/>
            <a:ext cx="3565949" cy="5143500"/>
            <a:chOff x="5578330" y="0"/>
            <a:chExt cx="3565949" cy="5143500"/>
          </a:xfrm>
        </p:grpSpPr>
        <p:pic>
          <p:nvPicPr>
            <p:cNvPr id="701" name="Google Shape;701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78330" y="0"/>
              <a:ext cx="134956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2" name="Google Shape;702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649535" y="0"/>
              <a:ext cx="1494464" cy="80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50"/>
            <p:cNvSpPr/>
            <p:nvPr/>
          </p:nvSpPr>
          <p:spPr>
            <a:xfrm>
              <a:off x="5703850" y="0"/>
              <a:ext cx="3440429" cy="5143500"/>
            </a:xfrm>
            <a:custGeom>
              <a:avLst/>
              <a:gdLst/>
              <a:ahLst/>
              <a:cxnLst/>
              <a:rect l="l" t="t" r="r" b="b"/>
              <a:pathLst>
                <a:path w="3440429" h="5143500" extrusionOk="0">
                  <a:moveTo>
                    <a:pt x="34400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3440099" y="0"/>
                  </a:lnTo>
                  <a:lnTo>
                    <a:pt x="3440099" y="5143499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4" name="Google Shape;704;p50"/>
            <p:cNvSpPr/>
            <p:nvPr/>
          </p:nvSpPr>
          <p:spPr>
            <a:xfrm>
              <a:off x="5703850" y="0"/>
              <a:ext cx="3440429" cy="5143500"/>
            </a:xfrm>
            <a:custGeom>
              <a:avLst/>
              <a:gdLst/>
              <a:ahLst/>
              <a:cxnLst/>
              <a:rect l="l" t="t" r="r" b="b"/>
              <a:pathLst>
                <a:path w="3440429" h="5143500" extrusionOk="0">
                  <a:moveTo>
                    <a:pt x="0" y="0"/>
                  </a:moveTo>
                  <a:lnTo>
                    <a:pt x="3440099" y="0"/>
                  </a:lnTo>
                  <a:lnTo>
                    <a:pt x="3440099" y="5143499"/>
                  </a:lnTo>
                  <a:lnTo>
                    <a:pt x="0" y="51434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0B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705" name="Google Shape;705;p5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49535" y="0"/>
              <a:ext cx="1494464" cy="809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p50"/>
          <p:cNvSpPr txBox="1">
            <a:spLocks noGrp="1"/>
          </p:cNvSpPr>
          <p:nvPr>
            <p:ph type="title"/>
          </p:nvPr>
        </p:nvSpPr>
        <p:spPr>
          <a:xfrm>
            <a:off x="1081625" y="352500"/>
            <a:ext cx="4383300" cy="8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dirty="0">
                <a:solidFill>
                  <a:srgbClr val="000000"/>
                </a:solidFill>
              </a:rPr>
              <a:t>Bankowość</a:t>
            </a:r>
            <a:endParaRPr sz="2400" dirty="0"/>
          </a:p>
          <a:p>
            <a:pPr marL="65405" lvl="0" indent="0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</a:rPr>
              <a:t>-	</a:t>
            </a:r>
            <a:r>
              <a:rPr lang="pl-PL" sz="2400" dirty="0">
                <a:solidFill>
                  <a:srgbClr val="000000"/>
                </a:solidFill>
              </a:rPr>
              <a:t>Fraud</a:t>
            </a:r>
            <a:endParaRPr sz="2400" dirty="0"/>
          </a:p>
        </p:txBody>
      </p:sp>
      <p:sp>
        <p:nvSpPr>
          <p:cNvPr id="708" name="Google Shape;708;p50"/>
          <p:cNvSpPr txBox="1"/>
          <p:nvPr/>
        </p:nvSpPr>
        <p:spPr>
          <a:xfrm>
            <a:off x="604850" y="2238250"/>
            <a:ext cx="1602600" cy="735900"/>
          </a:xfrm>
          <a:prstGeom prst="rect">
            <a:avLst/>
          </a:prstGeom>
          <a:solidFill>
            <a:srgbClr val="F10B31"/>
          </a:solidFill>
          <a:ln>
            <a:noFill/>
          </a:ln>
        </p:spPr>
        <p:txBody>
          <a:bodyPr spcFirstLastPara="1" wrap="square" lIns="0" tIns="147300" rIns="0" bIns="0" anchor="t" anchorCtr="0">
            <a:noAutofit/>
          </a:bodyPr>
          <a:lstStyle/>
          <a:p>
            <a:pPr marL="85725" marR="3257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PROBLEM/  POTENCJAŁ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9" name="Google Shape;709;p50"/>
          <p:cNvSpPr/>
          <p:nvPr/>
        </p:nvSpPr>
        <p:spPr>
          <a:xfrm>
            <a:off x="604849" y="3059428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5500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0" name="Google Shape;710;p50"/>
          <p:cNvSpPr txBox="1"/>
          <p:nvPr/>
        </p:nvSpPr>
        <p:spPr>
          <a:xfrm>
            <a:off x="604850" y="3220003"/>
            <a:ext cx="1602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873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OCZEKIWANA  WARTOŚĆ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1" name="Google Shape;711;p50"/>
          <p:cNvSpPr/>
          <p:nvPr/>
        </p:nvSpPr>
        <p:spPr>
          <a:xfrm>
            <a:off x="604849" y="3906406"/>
            <a:ext cx="1494790" cy="788035"/>
          </a:xfrm>
          <a:custGeom>
            <a:avLst/>
            <a:gdLst/>
            <a:ahLst/>
            <a:cxnLst/>
            <a:rect l="l" t="t" r="r" b="b"/>
            <a:pathLst>
              <a:path w="1494789" h="788035" extrusionOk="0">
                <a:moveTo>
                  <a:pt x="1494599" y="787499"/>
                </a:moveTo>
                <a:lnTo>
                  <a:pt x="0" y="787499"/>
                </a:lnTo>
                <a:lnTo>
                  <a:pt x="0" y="0"/>
                </a:lnTo>
                <a:lnTo>
                  <a:pt x="1494599" y="0"/>
                </a:lnTo>
                <a:lnTo>
                  <a:pt x="1494599" y="7874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2" name="Google Shape;712;p50"/>
          <p:cNvSpPr txBox="1"/>
          <p:nvPr/>
        </p:nvSpPr>
        <p:spPr>
          <a:xfrm>
            <a:off x="604850" y="4066977"/>
            <a:ext cx="1602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5725" marR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ROZWIĄZANIE  DATA SCIENCE</a:t>
            </a:r>
            <a:endParaRPr sz="14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3" name="Google Shape;713;p50"/>
          <p:cNvSpPr txBox="1"/>
          <p:nvPr/>
        </p:nvSpPr>
        <p:spPr>
          <a:xfrm>
            <a:off x="2104212" y="2238250"/>
            <a:ext cx="2951400" cy="720069"/>
          </a:xfrm>
          <a:prstGeom prst="rect">
            <a:avLst/>
          </a:prstGeom>
          <a:solidFill>
            <a:srgbClr val="F1F1F1"/>
          </a:solidFill>
          <a:ln w="9525" cap="flat" cmpd="sng">
            <a:solidFill>
              <a:srgbClr val="F10B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0650" rIns="0" bIns="0" anchor="t" anchorCtr="0">
            <a:spAutoFit/>
          </a:bodyPr>
          <a:lstStyle/>
          <a:p>
            <a:pPr marL="80645" marR="103504" lvl="0" indent="0" algn="just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>
                <a:latin typeface="Poppins"/>
                <a:ea typeface="Poppins"/>
                <a:cs typeface="Poppins"/>
                <a:sym typeface="Poppins"/>
              </a:rPr>
              <a:t>Wyłudzenia bankowe prowadzą do pogorszenia reputacji banku oraz zwiększonych kosztów</a:t>
            </a:r>
            <a:endParaRPr sz="12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14" name="Google Shape;714;p50"/>
          <p:cNvGrpSpPr/>
          <p:nvPr/>
        </p:nvGrpSpPr>
        <p:grpSpPr>
          <a:xfrm>
            <a:off x="2099449" y="3085250"/>
            <a:ext cx="2955925" cy="735965"/>
            <a:chOff x="2099449" y="3085250"/>
            <a:chExt cx="2955925" cy="735965"/>
          </a:xfrm>
        </p:grpSpPr>
        <p:sp>
          <p:nvSpPr>
            <p:cNvPr id="715" name="Google Shape;715;p50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2099449" y="3085250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5500F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17" name="Google Shape;717;p50"/>
          <p:cNvSpPr txBox="1"/>
          <p:nvPr/>
        </p:nvSpPr>
        <p:spPr>
          <a:xfrm>
            <a:off x="2099450" y="3172875"/>
            <a:ext cx="3194100" cy="63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1010919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>
                <a:latin typeface="Poppins"/>
                <a:ea typeface="Poppins"/>
                <a:cs typeface="Poppins"/>
                <a:sym typeface="Poppins"/>
              </a:rPr>
              <a:t>Zwiększenie wykrywalności fraudów (wyłudzeń) przed transakcją</a:t>
            </a:r>
            <a:endParaRPr sz="12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18" name="Google Shape;718;p50"/>
          <p:cNvGrpSpPr/>
          <p:nvPr/>
        </p:nvGrpSpPr>
        <p:grpSpPr>
          <a:xfrm>
            <a:off x="2099449" y="3932199"/>
            <a:ext cx="2955925" cy="735965"/>
            <a:chOff x="2099449" y="3932199"/>
            <a:chExt cx="2955925" cy="735965"/>
          </a:xfrm>
        </p:grpSpPr>
        <p:sp>
          <p:nvSpPr>
            <p:cNvPr id="719" name="Google Shape;719;p50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2955899" y="735899"/>
                  </a:moveTo>
                  <a:lnTo>
                    <a:pt x="0" y="735899"/>
                  </a:lnTo>
                  <a:lnTo>
                    <a:pt x="0" y="0"/>
                  </a:lnTo>
                  <a:lnTo>
                    <a:pt x="2955899" y="0"/>
                  </a:lnTo>
                  <a:lnTo>
                    <a:pt x="2955899" y="735899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2099449" y="3932199"/>
              <a:ext cx="2955925" cy="735965"/>
            </a:xfrm>
            <a:custGeom>
              <a:avLst/>
              <a:gdLst/>
              <a:ahLst/>
              <a:cxnLst/>
              <a:rect l="l" t="t" r="r" b="b"/>
              <a:pathLst>
                <a:path w="2955925" h="735964" extrusionOk="0">
                  <a:moveTo>
                    <a:pt x="0" y="0"/>
                  </a:moveTo>
                  <a:lnTo>
                    <a:pt x="2955899" y="0"/>
                  </a:lnTo>
                  <a:lnTo>
                    <a:pt x="2955899" y="735899"/>
                  </a:lnTo>
                  <a:lnTo>
                    <a:pt x="0" y="735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21" name="Google Shape;721;p50"/>
          <p:cNvSpPr txBox="1"/>
          <p:nvPr/>
        </p:nvSpPr>
        <p:spPr>
          <a:xfrm>
            <a:off x="2099450" y="3937550"/>
            <a:ext cx="3194100" cy="39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85725" marR="32639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 dirty="0">
                <a:latin typeface="Poppins"/>
                <a:ea typeface="Poppins"/>
                <a:cs typeface="Poppins"/>
                <a:sym typeface="Poppins"/>
              </a:rPr>
              <a:t>System identyfikujący fraudy przed transakcją i blokujący operacje.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2" name="Google Shape;722;p50"/>
          <p:cNvSpPr txBox="1"/>
          <p:nvPr/>
        </p:nvSpPr>
        <p:spPr>
          <a:xfrm>
            <a:off x="1911051" y="4862450"/>
            <a:ext cx="18393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6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infoShareAcademy.com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73280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>
            <a:extLst>
              <a:ext uri="{FF2B5EF4-FFF2-40B4-BE49-F238E27FC236}">
                <a16:creationId xmlns:a16="http://schemas.microsoft.com/office/drawing/2014/main" id="{557EEA34-6DB1-8511-68AA-345FAF093A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17" name="Google Shape;217;p26"/>
          <p:cNvSpPr txBox="1">
            <a:spLocks noGrp="1"/>
          </p:cNvSpPr>
          <p:nvPr>
            <p:ph type="ctrTitle"/>
          </p:nvPr>
        </p:nvSpPr>
        <p:spPr>
          <a:xfrm>
            <a:off x="0" y="2125463"/>
            <a:ext cx="9144000" cy="621600"/>
          </a:xfr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lvl="0"/>
            <a:r>
              <a:rPr lang="pl-PL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24209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19739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7"/>
          <p:cNvSpPr/>
          <p:nvPr/>
        </p:nvSpPr>
        <p:spPr>
          <a:xfrm>
            <a:off x="399534" y="278736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47" name="Google Shape;347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872" y="15178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9535" y="4333500"/>
            <a:ext cx="1494464" cy="8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872" y="1354320"/>
            <a:ext cx="8717556" cy="260295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7"/>
          <p:cNvSpPr txBox="1">
            <a:spLocks noGrp="1"/>
          </p:cNvSpPr>
          <p:nvPr>
            <p:ph type="title"/>
          </p:nvPr>
        </p:nvSpPr>
        <p:spPr>
          <a:xfrm>
            <a:off x="886606" y="320276"/>
            <a:ext cx="51606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dirty="0">
                <a:solidFill>
                  <a:srgbClr val="000000"/>
                </a:solidFill>
              </a:rPr>
              <a:t>Machine Learning - definicja</a:t>
            </a:r>
            <a:endParaRPr sz="2400" dirty="0"/>
          </a:p>
        </p:txBody>
      </p:sp>
      <p:pic>
        <p:nvPicPr>
          <p:cNvPr id="352" name="Google Shape;35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37"/>
          <p:cNvGrpSpPr/>
          <p:nvPr/>
        </p:nvGrpSpPr>
        <p:grpSpPr>
          <a:xfrm>
            <a:off x="278872" y="151780"/>
            <a:ext cx="498487" cy="504781"/>
            <a:chOff x="278872" y="151780"/>
            <a:chExt cx="498487" cy="504781"/>
          </a:xfrm>
        </p:grpSpPr>
        <p:sp>
          <p:nvSpPr>
            <p:cNvPr id="354" name="Google Shape;354;p37"/>
            <p:cNvSpPr/>
            <p:nvPr/>
          </p:nvSpPr>
          <p:spPr>
            <a:xfrm>
              <a:off x="399534" y="278736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 extrusionOk="0">
                  <a:moveTo>
                    <a:pt x="188662" y="377324"/>
                  </a:moveTo>
                  <a:lnTo>
                    <a:pt x="138508" y="370585"/>
                  </a:lnTo>
                  <a:lnTo>
                    <a:pt x="93440" y="351566"/>
                  </a:lnTo>
                  <a:lnTo>
                    <a:pt x="55257" y="322066"/>
                  </a:lnTo>
                  <a:lnTo>
                    <a:pt x="25757" y="283883"/>
                  </a:lnTo>
                  <a:lnTo>
                    <a:pt x="6739" y="238816"/>
                  </a:lnTo>
                  <a:lnTo>
                    <a:pt x="0" y="188662"/>
                  </a:lnTo>
                  <a:lnTo>
                    <a:pt x="6739" y="138508"/>
                  </a:lnTo>
                  <a:lnTo>
                    <a:pt x="25757" y="93440"/>
                  </a:lnTo>
                  <a:lnTo>
                    <a:pt x="55257" y="55257"/>
                  </a:lnTo>
                  <a:lnTo>
                    <a:pt x="93440" y="25757"/>
                  </a:lnTo>
                  <a:lnTo>
                    <a:pt x="138508" y="6739"/>
                  </a:lnTo>
                  <a:lnTo>
                    <a:pt x="188662" y="0"/>
                  </a:lnTo>
                  <a:lnTo>
                    <a:pt x="225640" y="3658"/>
                  </a:lnTo>
                  <a:lnTo>
                    <a:pt x="293332" y="31697"/>
                  </a:lnTo>
                  <a:lnTo>
                    <a:pt x="345627" y="83992"/>
                  </a:lnTo>
                  <a:lnTo>
                    <a:pt x="373666" y="151684"/>
                  </a:lnTo>
                  <a:lnTo>
                    <a:pt x="377325" y="188662"/>
                  </a:lnTo>
                  <a:lnTo>
                    <a:pt x="370585" y="238816"/>
                  </a:lnTo>
                  <a:lnTo>
                    <a:pt x="351567" y="283883"/>
                  </a:lnTo>
                  <a:lnTo>
                    <a:pt x="322067" y="322066"/>
                  </a:lnTo>
                  <a:lnTo>
                    <a:pt x="283884" y="351566"/>
                  </a:lnTo>
                  <a:lnTo>
                    <a:pt x="238816" y="370585"/>
                  </a:lnTo>
                  <a:lnTo>
                    <a:pt x="188662" y="377324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55" name="Google Shape;355;p3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8872" y="151780"/>
              <a:ext cx="162000" cy="161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37"/>
          <p:cNvSpPr txBox="1"/>
          <p:nvPr/>
        </p:nvSpPr>
        <p:spPr>
          <a:xfrm>
            <a:off x="564299" y="1376237"/>
            <a:ext cx="8015400" cy="249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Uczenie maszynowe jest podzbiorem sztucznej inteligencji (AI). Skupia się na nauczaniu komputerów, jak uczyć się na danych i doskonalić w miarę zdobywania doświadczenia. Procesy uczenia i doskonalenia się nie są zaprogramowane. W uczeniu maszynowym algorytmy są trenowane pod kątem znajdowania wzorców i korelacji w dużych zbiorach danych oraz podejmowania najlepszych decyzji.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478B36C-18B9-4B2C-D5D9-5D0C7635179D}"/>
              </a:ext>
            </a:extLst>
          </p:cNvPr>
          <p:cNvSpPr txBox="1"/>
          <p:nvPr/>
        </p:nvSpPr>
        <p:spPr>
          <a:xfrm>
            <a:off x="359872" y="4710875"/>
            <a:ext cx="7369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źródło: https://www.sap.com/poland/insights/what-is-machine-learning.html</a:t>
            </a:r>
          </a:p>
        </p:txBody>
      </p:sp>
    </p:spTree>
    <p:extLst>
      <p:ext uri="{BB962C8B-B14F-4D97-AF65-F5344CB8AC3E}">
        <p14:creationId xmlns:p14="http://schemas.microsoft.com/office/powerpoint/2010/main" val="375821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3"/>
          <p:cNvSpPr txBox="1">
            <a:spLocks noGrp="1"/>
          </p:cNvSpPr>
          <p:nvPr>
            <p:ph type="title"/>
          </p:nvPr>
        </p:nvSpPr>
        <p:spPr>
          <a:xfrm>
            <a:off x="908025" y="274350"/>
            <a:ext cx="9593400" cy="43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– </a:t>
            </a:r>
            <a:r>
              <a:rPr lang="pl-PL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Artificial</a:t>
            </a:r>
            <a:r>
              <a:rPr lang="pl-PL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inteligence</a:t>
            </a:r>
            <a:r>
              <a:rPr lang="pl-PL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(sztuczna inteligencja)</a:t>
            </a:r>
            <a:endParaRPr sz="24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53" name="Google Shape;753;p53"/>
          <p:cNvGrpSpPr/>
          <p:nvPr/>
        </p:nvGrpSpPr>
        <p:grpSpPr>
          <a:xfrm>
            <a:off x="180596" y="151780"/>
            <a:ext cx="596763" cy="504782"/>
            <a:chOff x="180596" y="151780"/>
            <a:chExt cx="596763" cy="504782"/>
          </a:xfrm>
        </p:grpSpPr>
        <p:sp>
          <p:nvSpPr>
            <p:cNvPr id="754" name="Google Shape;754;p53"/>
            <p:cNvSpPr/>
            <p:nvPr/>
          </p:nvSpPr>
          <p:spPr>
            <a:xfrm>
              <a:off x="399534" y="278737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 extrusionOk="0">
                  <a:moveTo>
                    <a:pt x="188662" y="377324"/>
                  </a:moveTo>
                  <a:lnTo>
                    <a:pt x="138508" y="370585"/>
                  </a:lnTo>
                  <a:lnTo>
                    <a:pt x="93440" y="351566"/>
                  </a:lnTo>
                  <a:lnTo>
                    <a:pt x="55257" y="322066"/>
                  </a:lnTo>
                  <a:lnTo>
                    <a:pt x="25757" y="283883"/>
                  </a:lnTo>
                  <a:lnTo>
                    <a:pt x="6739" y="238816"/>
                  </a:lnTo>
                  <a:lnTo>
                    <a:pt x="0" y="188662"/>
                  </a:lnTo>
                  <a:lnTo>
                    <a:pt x="6739" y="138508"/>
                  </a:lnTo>
                  <a:lnTo>
                    <a:pt x="25757" y="93440"/>
                  </a:lnTo>
                  <a:lnTo>
                    <a:pt x="55257" y="55257"/>
                  </a:lnTo>
                  <a:lnTo>
                    <a:pt x="93440" y="25757"/>
                  </a:lnTo>
                  <a:lnTo>
                    <a:pt x="138508" y="6739"/>
                  </a:lnTo>
                  <a:lnTo>
                    <a:pt x="188662" y="0"/>
                  </a:lnTo>
                  <a:lnTo>
                    <a:pt x="225640" y="3658"/>
                  </a:lnTo>
                  <a:lnTo>
                    <a:pt x="293332" y="31697"/>
                  </a:lnTo>
                  <a:lnTo>
                    <a:pt x="345627" y="83992"/>
                  </a:lnTo>
                  <a:lnTo>
                    <a:pt x="373666" y="151684"/>
                  </a:lnTo>
                  <a:lnTo>
                    <a:pt x="377325" y="188662"/>
                  </a:lnTo>
                  <a:lnTo>
                    <a:pt x="370585" y="238816"/>
                  </a:lnTo>
                  <a:lnTo>
                    <a:pt x="351567" y="283883"/>
                  </a:lnTo>
                  <a:lnTo>
                    <a:pt x="322067" y="322066"/>
                  </a:lnTo>
                  <a:lnTo>
                    <a:pt x="283884" y="351566"/>
                  </a:lnTo>
                  <a:lnTo>
                    <a:pt x="238816" y="370585"/>
                  </a:lnTo>
                  <a:lnTo>
                    <a:pt x="188662" y="377324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755" name="Google Shape;755;p5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8872" y="151780"/>
              <a:ext cx="162000" cy="161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6" name="Google Shape;756;p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0596" y="391034"/>
              <a:ext cx="162000" cy="161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8" name="Google Shape;758;p53"/>
          <p:cNvSpPr txBox="1"/>
          <p:nvPr/>
        </p:nvSpPr>
        <p:spPr>
          <a:xfrm>
            <a:off x="73025" y="4936577"/>
            <a:ext cx="4794250" cy="10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https://pl.wikipedia.org/wiki/Sztuczna_inteligencja</a:t>
            </a:r>
            <a:endParaRPr sz="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25;p55">
            <a:extLst>
              <a:ext uri="{FF2B5EF4-FFF2-40B4-BE49-F238E27FC236}">
                <a16:creationId xmlns:a16="http://schemas.microsoft.com/office/drawing/2014/main" id="{EC4058C3-2E12-280B-D8A4-0B76F65E46DB}"/>
              </a:ext>
            </a:extLst>
          </p:cNvPr>
          <p:cNvSpPr txBox="1"/>
          <p:nvPr/>
        </p:nvSpPr>
        <p:spPr>
          <a:xfrm>
            <a:off x="440872" y="941098"/>
            <a:ext cx="8442429" cy="130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86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Oznacza tworzenie modeli i programów symulujących choć częściowo zachowania inteligentne.</a:t>
            </a:r>
          </a:p>
          <a:p>
            <a:pPr marL="3486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l-PL" sz="1400" dirty="0">
              <a:solidFill>
                <a:srgbClr val="202122"/>
              </a:solidFill>
              <a:latin typeface="Arial" panose="020B0604020202020204" pitchFamily="34" charset="0"/>
              <a:ea typeface="Poppins"/>
              <a:cs typeface="Poppins"/>
              <a:sym typeface="Poppins"/>
            </a:endParaRPr>
          </a:p>
          <a:p>
            <a:pPr marL="63436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202122"/>
                </a:solidFill>
                <a:latin typeface="Arial" panose="020B0604020202020204" pitchFamily="34" charset="0"/>
                <a:ea typeface="Poppins"/>
                <a:cs typeface="Poppins"/>
                <a:sym typeface="Poppins"/>
              </a:rPr>
              <a:t>Chat GPT (NLP – Natural </a:t>
            </a:r>
            <a:r>
              <a:rPr lang="pl-PL" dirty="0" err="1">
                <a:solidFill>
                  <a:srgbClr val="202122"/>
                </a:solidFill>
                <a:latin typeface="Arial" panose="020B0604020202020204" pitchFamily="34" charset="0"/>
                <a:ea typeface="Poppins"/>
                <a:cs typeface="Poppins"/>
                <a:sym typeface="Poppins"/>
              </a:rPr>
              <a:t>language</a:t>
            </a:r>
            <a:r>
              <a:rPr lang="pl-PL" dirty="0">
                <a:solidFill>
                  <a:srgbClr val="202122"/>
                </a:solidFill>
                <a:latin typeface="Arial" panose="020B0604020202020204" pitchFamily="34" charset="0"/>
                <a:ea typeface="Poppins"/>
                <a:cs typeface="Poppins"/>
                <a:sym typeface="Poppins"/>
              </a:rPr>
              <a:t> </a:t>
            </a:r>
            <a:r>
              <a:rPr lang="pl-PL" dirty="0" err="1">
                <a:solidFill>
                  <a:srgbClr val="202122"/>
                </a:solidFill>
                <a:latin typeface="Arial" panose="020B0604020202020204" pitchFamily="34" charset="0"/>
                <a:ea typeface="Poppins"/>
                <a:cs typeface="Poppins"/>
                <a:sym typeface="Poppins"/>
              </a:rPr>
              <a:t>processing</a:t>
            </a:r>
            <a:r>
              <a:rPr lang="pl-PL" dirty="0">
                <a:solidFill>
                  <a:srgbClr val="202122"/>
                </a:solidFill>
                <a:latin typeface="Arial" panose="020B0604020202020204" pitchFamily="34" charset="0"/>
                <a:ea typeface="Poppins"/>
                <a:cs typeface="Poppins"/>
                <a:sym typeface="Poppins"/>
              </a:rPr>
              <a:t>).</a:t>
            </a:r>
          </a:p>
          <a:p>
            <a:pPr marL="63436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rgbClr val="202122"/>
                </a:solidFill>
                <a:latin typeface="Arial" panose="020B0604020202020204" pitchFamily="34" charset="0"/>
                <a:ea typeface="Poppins"/>
                <a:cs typeface="Poppins"/>
                <a:sym typeface="Poppins"/>
              </a:rPr>
              <a:t>Inteligentne roboty.</a:t>
            </a:r>
            <a:endParaRPr lang="pl-PL" dirty="0">
              <a:solidFill>
                <a:srgbClr val="202122"/>
              </a:solidFill>
              <a:latin typeface="Arial" panose="020B0604020202020204" pitchFamily="34" charset="0"/>
              <a:ea typeface="Poppins"/>
              <a:cs typeface="Poppins"/>
              <a:sym typeface="Poppins"/>
            </a:endParaRPr>
          </a:p>
          <a:p>
            <a:pPr marL="63436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rgbClr val="202122"/>
                </a:solidFill>
                <a:latin typeface="Arial" panose="020B0604020202020204" pitchFamily="34" charset="0"/>
                <a:ea typeface="Poppins"/>
                <a:cs typeface="Poppins"/>
                <a:sym typeface="Poppins"/>
              </a:rPr>
              <a:t>Sztuczna twórczość.</a:t>
            </a:r>
          </a:p>
          <a:p>
            <a:pPr marL="3486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61701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19739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7"/>
          <p:cNvSpPr/>
          <p:nvPr/>
        </p:nvSpPr>
        <p:spPr>
          <a:xfrm>
            <a:off x="399534" y="278736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47" name="Google Shape;347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872" y="15178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9535" y="4333500"/>
            <a:ext cx="1494464" cy="8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872" y="1354321"/>
            <a:ext cx="8717556" cy="107465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7"/>
          <p:cNvSpPr txBox="1">
            <a:spLocks noGrp="1"/>
          </p:cNvSpPr>
          <p:nvPr>
            <p:ph type="title"/>
          </p:nvPr>
        </p:nvSpPr>
        <p:spPr>
          <a:xfrm>
            <a:off x="886606" y="320276"/>
            <a:ext cx="51606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dirty="0">
                <a:solidFill>
                  <a:srgbClr val="000000"/>
                </a:solidFill>
              </a:rPr>
              <a:t>Machine Learning - definicja</a:t>
            </a:r>
            <a:endParaRPr sz="2400" dirty="0"/>
          </a:p>
        </p:txBody>
      </p:sp>
      <p:pic>
        <p:nvPicPr>
          <p:cNvPr id="352" name="Google Shape;35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37"/>
          <p:cNvGrpSpPr/>
          <p:nvPr/>
        </p:nvGrpSpPr>
        <p:grpSpPr>
          <a:xfrm>
            <a:off x="278872" y="151780"/>
            <a:ext cx="498487" cy="504781"/>
            <a:chOff x="278872" y="151780"/>
            <a:chExt cx="498487" cy="504781"/>
          </a:xfrm>
        </p:grpSpPr>
        <p:sp>
          <p:nvSpPr>
            <p:cNvPr id="354" name="Google Shape;354;p37"/>
            <p:cNvSpPr/>
            <p:nvPr/>
          </p:nvSpPr>
          <p:spPr>
            <a:xfrm>
              <a:off x="399534" y="278736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 extrusionOk="0">
                  <a:moveTo>
                    <a:pt x="188662" y="377324"/>
                  </a:moveTo>
                  <a:lnTo>
                    <a:pt x="138508" y="370585"/>
                  </a:lnTo>
                  <a:lnTo>
                    <a:pt x="93440" y="351566"/>
                  </a:lnTo>
                  <a:lnTo>
                    <a:pt x="55257" y="322066"/>
                  </a:lnTo>
                  <a:lnTo>
                    <a:pt x="25757" y="283883"/>
                  </a:lnTo>
                  <a:lnTo>
                    <a:pt x="6739" y="238816"/>
                  </a:lnTo>
                  <a:lnTo>
                    <a:pt x="0" y="188662"/>
                  </a:lnTo>
                  <a:lnTo>
                    <a:pt x="6739" y="138508"/>
                  </a:lnTo>
                  <a:lnTo>
                    <a:pt x="25757" y="93440"/>
                  </a:lnTo>
                  <a:lnTo>
                    <a:pt x="55257" y="55257"/>
                  </a:lnTo>
                  <a:lnTo>
                    <a:pt x="93440" y="25757"/>
                  </a:lnTo>
                  <a:lnTo>
                    <a:pt x="138508" y="6739"/>
                  </a:lnTo>
                  <a:lnTo>
                    <a:pt x="188662" y="0"/>
                  </a:lnTo>
                  <a:lnTo>
                    <a:pt x="225640" y="3658"/>
                  </a:lnTo>
                  <a:lnTo>
                    <a:pt x="293332" y="31697"/>
                  </a:lnTo>
                  <a:lnTo>
                    <a:pt x="345627" y="83992"/>
                  </a:lnTo>
                  <a:lnTo>
                    <a:pt x="373666" y="151684"/>
                  </a:lnTo>
                  <a:lnTo>
                    <a:pt x="377325" y="188662"/>
                  </a:lnTo>
                  <a:lnTo>
                    <a:pt x="370585" y="238816"/>
                  </a:lnTo>
                  <a:lnTo>
                    <a:pt x="351567" y="283883"/>
                  </a:lnTo>
                  <a:lnTo>
                    <a:pt x="322067" y="322066"/>
                  </a:lnTo>
                  <a:lnTo>
                    <a:pt x="283884" y="351566"/>
                  </a:lnTo>
                  <a:lnTo>
                    <a:pt x="238816" y="370585"/>
                  </a:lnTo>
                  <a:lnTo>
                    <a:pt x="188662" y="377324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55" name="Google Shape;355;p3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8872" y="151780"/>
              <a:ext cx="162000" cy="161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37"/>
          <p:cNvSpPr txBox="1"/>
          <p:nvPr/>
        </p:nvSpPr>
        <p:spPr>
          <a:xfrm>
            <a:off x="564299" y="1376237"/>
            <a:ext cx="8015400" cy="107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Uczenie maszynowe to zestaw algorytmów pozwalających zrealizować cel biznesowy (m.in. Przytoczone na początku spotkania).</a:t>
            </a:r>
          </a:p>
        </p:txBody>
      </p:sp>
    </p:spTree>
    <p:extLst>
      <p:ext uri="{BB962C8B-B14F-4D97-AF65-F5344CB8AC3E}">
        <p14:creationId xmlns:p14="http://schemas.microsoft.com/office/powerpoint/2010/main" val="77800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/>
          <p:nvPr/>
        </p:nvSpPr>
        <p:spPr>
          <a:xfrm>
            <a:off x="399534" y="278736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 extrusionOk="0">
                <a:moveTo>
                  <a:pt x="188662" y="377324"/>
                </a:moveTo>
                <a:lnTo>
                  <a:pt x="138508" y="370585"/>
                </a:lnTo>
                <a:lnTo>
                  <a:pt x="93440" y="351566"/>
                </a:lnTo>
                <a:lnTo>
                  <a:pt x="55257" y="322066"/>
                </a:lnTo>
                <a:lnTo>
                  <a:pt x="25757" y="283883"/>
                </a:lnTo>
                <a:lnTo>
                  <a:pt x="6739" y="238816"/>
                </a:lnTo>
                <a:lnTo>
                  <a:pt x="0" y="188662"/>
                </a:lnTo>
                <a:lnTo>
                  <a:pt x="6739" y="138508"/>
                </a:lnTo>
                <a:lnTo>
                  <a:pt x="25757" y="93440"/>
                </a:lnTo>
                <a:lnTo>
                  <a:pt x="55257" y="55257"/>
                </a:lnTo>
                <a:lnTo>
                  <a:pt x="93440" y="25757"/>
                </a:lnTo>
                <a:lnTo>
                  <a:pt x="138508" y="6739"/>
                </a:lnTo>
                <a:lnTo>
                  <a:pt x="188662" y="0"/>
                </a:lnTo>
                <a:lnTo>
                  <a:pt x="225640" y="3658"/>
                </a:lnTo>
                <a:lnTo>
                  <a:pt x="293332" y="31697"/>
                </a:lnTo>
                <a:lnTo>
                  <a:pt x="345627" y="83992"/>
                </a:lnTo>
                <a:lnTo>
                  <a:pt x="373666" y="151684"/>
                </a:lnTo>
                <a:lnTo>
                  <a:pt x="377325" y="188662"/>
                </a:lnTo>
                <a:lnTo>
                  <a:pt x="370585" y="238816"/>
                </a:lnTo>
                <a:lnTo>
                  <a:pt x="351567" y="283883"/>
                </a:lnTo>
                <a:lnTo>
                  <a:pt x="322067" y="322066"/>
                </a:lnTo>
                <a:lnTo>
                  <a:pt x="283884" y="351566"/>
                </a:lnTo>
                <a:lnTo>
                  <a:pt x="238816" y="370585"/>
                </a:lnTo>
                <a:lnTo>
                  <a:pt x="188662" y="377324"/>
                </a:lnTo>
                <a:close/>
              </a:path>
            </a:pathLst>
          </a:custGeom>
          <a:solidFill>
            <a:srgbClr val="F10B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63" name="Google Shape;363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872" y="151780"/>
            <a:ext cx="162000" cy="1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9535" y="4333500"/>
            <a:ext cx="1494464" cy="80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" name="Google Shape;366;p38"/>
          <p:cNvGrpSpPr/>
          <p:nvPr/>
        </p:nvGrpSpPr>
        <p:grpSpPr>
          <a:xfrm>
            <a:off x="278872" y="151775"/>
            <a:ext cx="7566028" cy="4690648"/>
            <a:chOff x="278872" y="151775"/>
            <a:chExt cx="7566028" cy="4690648"/>
          </a:xfrm>
        </p:grpSpPr>
        <p:pic>
          <p:nvPicPr>
            <p:cNvPr id="367" name="Google Shape;367;p3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8375" y="1421775"/>
              <a:ext cx="5862724" cy="3420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3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948576" y="151775"/>
              <a:ext cx="4896324" cy="44784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8"/>
            <p:cNvSpPr/>
            <p:nvPr/>
          </p:nvSpPr>
          <p:spPr>
            <a:xfrm>
              <a:off x="399534" y="278736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 extrusionOk="0">
                  <a:moveTo>
                    <a:pt x="188662" y="377324"/>
                  </a:moveTo>
                  <a:lnTo>
                    <a:pt x="138508" y="370585"/>
                  </a:lnTo>
                  <a:lnTo>
                    <a:pt x="93440" y="351566"/>
                  </a:lnTo>
                  <a:lnTo>
                    <a:pt x="55257" y="322066"/>
                  </a:lnTo>
                  <a:lnTo>
                    <a:pt x="25757" y="283883"/>
                  </a:lnTo>
                  <a:lnTo>
                    <a:pt x="6739" y="238816"/>
                  </a:lnTo>
                  <a:lnTo>
                    <a:pt x="0" y="188662"/>
                  </a:lnTo>
                  <a:lnTo>
                    <a:pt x="6739" y="138508"/>
                  </a:lnTo>
                  <a:lnTo>
                    <a:pt x="25757" y="93440"/>
                  </a:lnTo>
                  <a:lnTo>
                    <a:pt x="55257" y="55257"/>
                  </a:lnTo>
                  <a:lnTo>
                    <a:pt x="93440" y="25757"/>
                  </a:lnTo>
                  <a:lnTo>
                    <a:pt x="138508" y="6739"/>
                  </a:lnTo>
                  <a:lnTo>
                    <a:pt x="188662" y="0"/>
                  </a:lnTo>
                  <a:lnTo>
                    <a:pt x="225640" y="3658"/>
                  </a:lnTo>
                  <a:lnTo>
                    <a:pt x="293332" y="31697"/>
                  </a:lnTo>
                  <a:lnTo>
                    <a:pt x="345627" y="83992"/>
                  </a:lnTo>
                  <a:lnTo>
                    <a:pt x="373666" y="151684"/>
                  </a:lnTo>
                  <a:lnTo>
                    <a:pt x="377325" y="188662"/>
                  </a:lnTo>
                  <a:lnTo>
                    <a:pt x="370585" y="238816"/>
                  </a:lnTo>
                  <a:lnTo>
                    <a:pt x="351567" y="283883"/>
                  </a:lnTo>
                  <a:lnTo>
                    <a:pt x="322067" y="322066"/>
                  </a:lnTo>
                  <a:lnTo>
                    <a:pt x="283884" y="351566"/>
                  </a:lnTo>
                  <a:lnTo>
                    <a:pt x="238816" y="370585"/>
                  </a:lnTo>
                  <a:lnTo>
                    <a:pt x="188662" y="377324"/>
                  </a:lnTo>
                  <a:close/>
                </a:path>
              </a:pathLst>
            </a:custGeom>
            <a:solidFill>
              <a:srgbClr val="F10B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70" name="Google Shape;370;p3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8872" y="151779"/>
              <a:ext cx="162000" cy="161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" name="Google Shape;371;p38"/>
          <p:cNvSpPr txBox="1">
            <a:spLocks noGrp="1"/>
          </p:cNvSpPr>
          <p:nvPr>
            <p:ph type="title"/>
          </p:nvPr>
        </p:nvSpPr>
        <p:spPr>
          <a:xfrm>
            <a:off x="886606" y="320276"/>
            <a:ext cx="1587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Workflow</a:t>
            </a:r>
            <a:endParaRPr sz="2400"/>
          </a:p>
        </p:txBody>
      </p:sp>
      <p:pic>
        <p:nvPicPr>
          <p:cNvPr id="372" name="Google Shape;37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96" y="391033"/>
            <a:ext cx="162000" cy="16199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8"/>
          <p:cNvSpPr txBox="1"/>
          <p:nvPr/>
        </p:nvSpPr>
        <p:spPr>
          <a:xfrm>
            <a:off x="641750" y="2286600"/>
            <a:ext cx="1940700" cy="10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Realizacja celu jest  cyklem, który  będzie się  powtarzać, nie  zawsze od  początku do końca.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2895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"/>
          <p:cNvSpPr txBox="1">
            <a:spLocks noGrp="1"/>
          </p:cNvSpPr>
          <p:nvPr>
            <p:ph type="title"/>
          </p:nvPr>
        </p:nvSpPr>
        <p:spPr>
          <a:xfrm>
            <a:off x="832631" y="349988"/>
            <a:ext cx="7682700" cy="382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Pułapki</a:t>
            </a:r>
            <a:endParaRPr dirty="0"/>
          </a:p>
        </p:txBody>
      </p:sp>
      <p:sp>
        <p:nvSpPr>
          <p:cNvPr id="414" name="Google Shape;414;p40"/>
          <p:cNvSpPr txBox="1">
            <a:spLocks noGrp="1"/>
          </p:cNvSpPr>
          <p:nvPr>
            <p:ph type="body" idx="4294967295"/>
          </p:nvPr>
        </p:nvSpPr>
        <p:spPr>
          <a:xfrm>
            <a:off x="956425" y="1212675"/>
            <a:ext cx="7348200" cy="365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Na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każdym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etapie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cyklu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, DS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musi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uważać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potencjalne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dirty="0" err="1">
                <a:latin typeface="Poppins"/>
                <a:ea typeface="Poppins"/>
                <a:cs typeface="Poppins"/>
                <a:sym typeface="Poppins"/>
              </a:rPr>
              <a:t>pułapki</a:t>
            </a:r>
            <a:r>
              <a:rPr lang="en-US" sz="1600" b="1" dirty="0"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195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Uczenie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danych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z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przyszłości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tzw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. data leak.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Skupienie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jednym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elemencie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procesu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zapominając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całościowym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obrazie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celu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zadanego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problemu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Występowanie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nagłych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niespodziewanych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zdarzeń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anomalii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niemożliwych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przewidzenia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z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wyprzedzeniem</a:t>
            </a:r>
            <a:r>
              <a:rPr lang="pl-PL" sz="140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Mnogość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założeń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ograniczeń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biznesowych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procesowych</a:t>
            </a:r>
            <a:r>
              <a:rPr lang="pl-PL" sz="1400" dirty="0"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Wysokość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impactu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trudna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1400" dirty="0" err="1">
                <a:latin typeface="Poppins"/>
                <a:ea typeface="Poppins"/>
                <a:cs typeface="Poppins"/>
                <a:sym typeface="Poppins"/>
              </a:rPr>
              <a:t>zmierzenia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lang="pl-PL" sz="14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pl-PL" sz="1400" dirty="0">
                <a:latin typeface="Poppins"/>
                <a:ea typeface="Poppins"/>
                <a:cs typeface="Poppins"/>
                <a:sym typeface="Poppins"/>
              </a:rPr>
              <a:t>Czy istnieje model idealny? Jeżeli taki znajdziecie, bądźcie ostrożni.</a:t>
            </a: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pl-PL" sz="1400" dirty="0">
                <a:latin typeface="Poppins"/>
                <a:ea typeface="Poppins"/>
                <a:cs typeface="Poppins"/>
                <a:sym typeface="Poppins"/>
              </a:rPr>
              <a:t>Modelowanie oczywistych zjawisk.</a:t>
            </a: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pl-PL" sz="1400" dirty="0">
                <a:latin typeface="Poppins"/>
                <a:ea typeface="Poppins"/>
                <a:cs typeface="Poppins"/>
                <a:sym typeface="Poppins"/>
              </a:rPr>
              <a:t>Modele uczą się na podstawie zachowania grupy podobnych lub takich samych przypadków. Dlatego nawet bardzo dobre modele mogą się mylić rozpatrując pojedynczy przypadek. </a:t>
            </a: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endParaRPr lang="pl-PL" sz="14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endParaRPr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44357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1" name="Google Shape;831;p56"/>
          <p:cNvGrpSpPr/>
          <p:nvPr/>
        </p:nvGrpSpPr>
        <p:grpSpPr>
          <a:xfrm>
            <a:off x="809625" y="922985"/>
            <a:ext cx="7524750" cy="3109861"/>
            <a:chOff x="809625" y="922985"/>
            <a:chExt cx="7524750" cy="3109861"/>
          </a:xfrm>
        </p:grpSpPr>
        <p:sp>
          <p:nvSpPr>
            <p:cNvPr id="832" name="Google Shape;832;p56"/>
            <p:cNvSpPr/>
            <p:nvPr/>
          </p:nvSpPr>
          <p:spPr>
            <a:xfrm>
              <a:off x="809625" y="1354416"/>
              <a:ext cx="7524750" cy="2678430"/>
            </a:xfrm>
            <a:custGeom>
              <a:avLst/>
              <a:gdLst/>
              <a:ahLst/>
              <a:cxnLst/>
              <a:rect l="l" t="t" r="r" b="b"/>
              <a:pathLst>
                <a:path w="7524750" h="2678429" extrusionOk="0">
                  <a:moveTo>
                    <a:pt x="7405292" y="2677949"/>
                  </a:moveTo>
                  <a:lnTo>
                    <a:pt x="119382" y="2677949"/>
                  </a:lnTo>
                  <a:lnTo>
                    <a:pt x="72913" y="2668568"/>
                  </a:lnTo>
                  <a:lnTo>
                    <a:pt x="34966" y="2642983"/>
                  </a:lnTo>
                  <a:lnTo>
                    <a:pt x="9381" y="2605036"/>
                  </a:lnTo>
                  <a:lnTo>
                    <a:pt x="0" y="2558566"/>
                  </a:lnTo>
                  <a:lnTo>
                    <a:pt x="0" y="119382"/>
                  </a:lnTo>
                  <a:lnTo>
                    <a:pt x="9381" y="72913"/>
                  </a:lnTo>
                  <a:lnTo>
                    <a:pt x="34966" y="34966"/>
                  </a:lnTo>
                  <a:lnTo>
                    <a:pt x="72913" y="9381"/>
                  </a:lnTo>
                  <a:lnTo>
                    <a:pt x="119382" y="0"/>
                  </a:lnTo>
                  <a:lnTo>
                    <a:pt x="7405292" y="0"/>
                  </a:lnTo>
                  <a:lnTo>
                    <a:pt x="7450978" y="9087"/>
                  </a:lnTo>
                  <a:lnTo>
                    <a:pt x="7489708" y="34966"/>
                  </a:lnTo>
                  <a:lnTo>
                    <a:pt x="7515587" y="73697"/>
                  </a:lnTo>
                  <a:lnTo>
                    <a:pt x="7524674" y="119382"/>
                  </a:lnTo>
                  <a:lnTo>
                    <a:pt x="7524674" y="2558566"/>
                  </a:lnTo>
                  <a:lnTo>
                    <a:pt x="7515293" y="2605036"/>
                  </a:lnTo>
                  <a:lnTo>
                    <a:pt x="7489708" y="2642983"/>
                  </a:lnTo>
                  <a:lnTo>
                    <a:pt x="7451761" y="2668568"/>
                  </a:lnTo>
                  <a:lnTo>
                    <a:pt x="7405292" y="26779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3" name="Google Shape;833;p56"/>
            <p:cNvSpPr/>
            <p:nvPr/>
          </p:nvSpPr>
          <p:spPr>
            <a:xfrm>
              <a:off x="3761998" y="922985"/>
              <a:ext cx="1620520" cy="810260"/>
            </a:xfrm>
            <a:custGeom>
              <a:avLst/>
              <a:gdLst/>
              <a:ahLst/>
              <a:cxnLst/>
              <a:rect l="l" t="t" r="r" b="b"/>
              <a:pathLst>
                <a:path w="1620520" h="810260" extrusionOk="0">
                  <a:moveTo>
                    <a:pt x="1583890" y="809999"/>
                  </a:moveTo>
                  <a:lnTo>
                    <a:pt x="36110" y="809999"/>
                  </a:lnTo>
                  <a:lnTo>
                    <a:pt x="22054" y="807162"/>
                  </a:lnTo>
                  <a:lnTo>
                    <a:pt x="10576" y="799423"/>
                  </a:lnTo>
                  <a:lnTo>
                    <a:pt x="2837" y="787945"/>
                  </a:lnTo>
                  <a:lnTo>
                    <a:pt x="0" y="773890"/>
                  </a:lnTo>
                  <a:lnTo>
                    <a:pt x="0" y="36109"/>
                  </a:lnTo>
                  <a:lnTo>
                    <a:pt x="2837" y="22054"/>
                  </a:lnTo>
                  <a:lnTo>
                    <a:pt x="10576" y="10576"/>
                  </a:lnTo>
                  <a:lnTo>
                    <a:pt x="22054" y="2837"/>
                  </a:lnTo>
                  <a:lnTo>
                    <a:pt x="36110" y="0"/>
                  </a:lnTo>
                  <a:lnTo>
                    <a:pt x="1583890" y="0"/>
                  </a:lnTo>
                  <a:lnTo>
                    <a:pt x="1617251" y="22291"/>
                  </a:lnTo>
                  <a:lnTo>
                    <a:pt x="1619999" y="36109"/>
                  </a:lnTo>
                  <a:lnTo>
                    <a:pt x="1619999" y="773890"/>
                  </a:lnTo>
                  <a:lnTo>
                    <a:pt x="1617162" y="787945"/>
                  </a:lnTo>
                  <a:lnTo>
                    <a:pt x="1609423" y="799423"/>
                  </a:lnTo>
                  <a:lnTo>
                    <a:pt x="1597945" y="807162"/>
                  </a:lnTo>
                  <a:lnTo>
                    <a:pt x="1583890" y="809999"/>
                  </a:lnTo>
                  <a:close/>
                </a:path>
              </a:pathLst>
            </a:custGeom>
            <a:solidFill>
              <a:srgbClr val="5500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834" name="Google Shape;834;p5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49305" y="990485"/>
              <a:ext cx="1245386" cy="6749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5" name="Google Shape;835;p56"/>
          <p:cNvGrpSpPr/>
          <p:nvPr/>
        </p:nvGrpSpPr>
        <p:grpSpPr>
          <a:xfrm>
            <a:off x="3163162" y="5030905"/>
            <a:ext cx="2818130" cy="113030"/>
            <a:chOff x="3163162" y="5030905"/>
            <a:chExt cx="2818130" cy="113030"/>
          </a:xfrm>
        </p:grpSpPr>
        <p:sp>
          <p:nvSpPr>
            <p:cNvPr id="836" name="Google Shape;836;p56"/>
            <p:cNvSpPr/>
            <p:nvPr/>
          </p:nvSpPr>
          <p:spPr>
            <a:xfrm>
              <a:off x="3163162" y="5030905"/>
              <a:ext cx="2818130" cy="113030"/>
            </a:xfrm>
            <a:custGeom>
              <a:avLst/>
              <a:gdLst/>
              <a:ahLst/>
              <a:cxnLst/>
              <a:rect l="l" t="t" r="r" b="b"/>
              <a:pathLst>
                <a:path w="2818129" h="113029" extrusionOk="0">
                  <a:moveTo>
                    <a:pt x="2817674" y="112499"/>
                  </a:moveTo>
                  <a:lnTo>
                    <a:pt x="0" y="112499"/>
                  </a:lnTo>
                  <a:lnTo>
                    <a:pt x="0" y="0"/>
                  </a:lnTo>
                  <a:lnTo>
                    <a:pt x="2817674" y="0"/>
                  </a:lnTo>
                  <a:lnTo>
                    <a:pt x="2817674" y="1124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7" name="Google Shape;837;p56"/>
            <p:cNvSpPr/>
            <p:nvPr/>
          </p:nvSpPr>
          <p:spPr>
            <a:xfrm>
              <a:off x="3163162" y="5030905"/>
              <a:ext cx="2818130" cy="113030"/>
            </a:xfrm>
            <a:custGeom>
              <a:avLst/>
              <a:gdLst/>
              <a:ahLst/>
              <a:cxnLst/>
              <a:rect l="l" t="t" r="r" b="b"/>
              <a:pathLst>
                <a:path w="2818129" h="113029" extrusionOk="0">
                  <a:moveTo>
                    <a:pt x="0" y="0"/>
                  </a:moveTo>
                  <a:lnTo>
                    <a:pt x="2817674" y="0"/>
                  </a:lnTo>
                  <a:lnTo>
                    <a:pt x="2817674" y="112499"/>
                  </a:lnTo>
                  <a:lnTo>
                    <a:pt x="0" y="1124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38" name="Google Shape;838;p56"/>
          <p:cNvSpPr txBox="1">
            <a:spLocks noGrp="1"/>
          </p:cNvSpPr>
          <p:nvPr>
            <p:ph type="title"/>
          </p:nvPr>
        </p:nvSpPr>
        <p:spPr>
          <a:xfrm>
            <a:off x="2519508" y="2114388"/>
            <a:ext cx="4105800" cy="11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750" rIns="0" bIns="0" anchor="t" anchorCtr="0">
            <a:spAutoFit/>
          </a:bodyPr>
          <a:lstStyle/>
          <a:p>
            <a:pPr marL="381635" marR="5080" lvl="0" indent="-369569" algn="l" rtl="0">
              <a:lnSpc>
                <a:spcPct val="107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Dziękuję za uwagę  i powodzenia :)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9" name="Google Shape;839;p56"/>
          <p:cNvSpPr txBox="1"/>
          <p:nvPr/>
        </p:nvSpPr>
        <p:spPr>
          <a:xfrm>
            <a:off x="3724777" y="3655625"/>
            <a:ext cx="20724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infoShareAcademy.com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A - google slides">
  <a:themeElements>
    <a:clrScheme name="infoShare Academy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20B32"/>
      </a:accent1>
      <a:accent2>
        <a:srgbClr val="5500FC"/>
      </a:accent2>
      <a:accent3>
        <a:srgbClr val="01F9FB"/>
      </a:accent3>
      <a:accent4>
        <a:srgbClr val="F20B32"/>
      </a:accent4>
      <a:accent5>
        <a:srgbClr val="6353F7"/>
      </a:accent5>
      <a:accent6>
        <a:srgbClr val="01F9FB"/>
      </a:accent6>
      <a:hlink>
        <a:srgbClr val="F20B32"/>
      </a:hlink>
      <a:folHlink>
        <a:srgbClr val="5500F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529</Words>
  <Application>Microsoft Office PowerPoint</Application>
  <PresentationFormat>Pokaz na ekranie (16:9)</PresentationFormat>
  <Paragraphs>78</Paragraphs>
  <Slides>18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10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9" baseType="lpstr">
      <vt:lpstr>Poppins</vt:lpstr>
      <vt:lpstr>Poppins Light</vt:lpstr>
      <vt:lpstr>Lucida Sans</vt:lpstr>
      <vt:lpstr>Poppins Black</vt:lpstr>
      <vt:lpstr>Consolas</vt:lpstr>
      <vt:lpstr>Poppins Medium</vt:lpstr>
      <vt:lpstr>Arial</vt:lpstr>
      <vt:lpstr>Tahoma</vt:lpstr>
      <vt:lpstr>Montserrat</vt:lpstr>
      <vt:lpstr>Calibri</vt:lpstr>
      <vt:lpstr>iSA - google slides</vt:lpstr>
      <vt:lpstr>Wstęp do Data Science</vt:lpstr>
      <vt:lpstr>Prezentacja programu PowerPoint</vt:lpstr>
      <vt:lpstr>Data Science</vt:lpstr>
      <vt:lpstr>Główne komponenty dziedziny DS</vt:lpstr>
      <vt:lpstr>Co robi Data Scientist?</vt:lpstr>
      <vt:lpstr>Najważniejszy cel Data Scientist</vt:lpstr>
      <vt:lpstr>Data Science - przykłady zastosowań</vt:lpstr>
      <vt:lpstr>Sektor rozrywkowy - Serwis streamingowy</vt:lpstr>
      <vt:lpstr>Zjawisko churn </vt:lpstr>
      <vt:lpstr>Bankowość - ryzyko kredytowe</vt:lpstr>
      <vt:lpstr>Bankowość - Fraud</vt:lpstr>
      <vt:lpstr>Machine Learning</vt:lpstr>
      <vt:lpstr>Machine Learning - definicja</vt:lpstr>
      <vt:lpstr>AI – Artificial inteligence (sztuczna inteligencja)</vt:lpstr>
      <vt:lpstr>Machine Learning - definicja</vt:lpstr>
      <vt:lpstr>Workflow</vt:lpstr>
      <vt:lpstr>Pułapki</vt:lpstr>
      <vt:lpstr>Dziękuję za uwagę  i powodzenia :)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Wstęp do Data Science</dc:title>
  <dc:creator>Patryk Krysiński</dc:creator>
  <cp:lastModifiedBy>Patryk Krysiński</cp:lastModifiedBy>
  <cp:revision>5</cp:revision>
  <dcterms:modified xsi:type="dcterms:W3CDTF">2024-07-24T21:16:52Z</dcterms:modified>
</cp:coreProperties>
</file>